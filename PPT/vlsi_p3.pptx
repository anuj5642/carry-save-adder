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5" r:id="rId2"/>
    <p:sldId id="266" r:id="rId3"/>
    <p:sldId id="271" r:id="rId4"/>
    <p:sldId id="272" r:id="rId5"/>
    <p:sldId id="273" r:id="rId6"/>
    <p:sldId id="274" r:id="rId7"/>
    <p:sldId id="275" r:id="rId8"/>
    <p:sldId id="269" r:id="rId9"/>
    <p:sldId id="270" r:id="rId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A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EAC062-008D-4A0E-A262-B01EF83B4A8D}" v="18" dt="2026-03-01T17:39:54.18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88" autoAdjust="0"/>
  </p:normalViewPr>
  <p:slideViewPr>
    <p:cSldViewPr>
      <p:cViewPr varScale="1">
        <p:scale>
          <a:sx n="101" d="100"/>
          <a:sy n="101" d="100"/>
        </p:scale>
        <p:origin x="92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21D08-52A7-42E5-9152-F094439821A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327DF-1F2B-4F80-9143-87FC2E6A4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154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0" y="-24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1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2550" y="61848"/>
            <a:ext cx="5746135" cy="6009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7874" y="811648"/>
            <a:ext cx="7866380" cy="320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FDBC5-A1B4-E476-4216-2CD2FDA35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295709-1184-02AC-5FB9-18039DCB4738}"/>
              </a:ext>
            </a:extLst>
          </p:cNvPr>
          <p:cNvSpPr/>
          <p:nvPr/>
        </p:nvSpPr>
        <p:spPr>
          <a:xfrm>
            <a:off x="397175" y="3199575"/>
            <a:ext cx="937894" cy="777240"/>
          </a:xfrm>
          <a:custGeom>
            <a:avLst/>
            <a:gdLst/>
            <a:ahLst/>
            <a:cxnLst/>
            <a:rect l="l" t="t" r="r" b="b"/>
            <a:pathLst>
              <a:path w="937894" h="777239">
                <a:moveTo>
                  <a:pt x="0" y="0"/>
                </a:moveTo>
                <a:lnTo>
                  <a:pt x="937499" y="0"/>
                </a:lnTo>
                <a:lnTo>
                  <a:pt x="937499" y="776999"/>
                </a:lnTo>
                <a:lnTo>
                  <a:pt x="0" y="776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AF699B-2204-72E2-19BC-292B09963D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3168230E-8387-89C9-5674-4D3D1A935A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449" y="168976"/>
            <a:ext cx="8991599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latin typeface="Aptos" panose="020B0004020202020204" pitchFamily="34" charset="0"/>
              </a:rPr>
              <a:t>“High Performance Carry Save Adder </a:t>
            </a:r>
            <a:br>
              <a:rPr lang="en-IN" sz="3200" b="1" dirty="0">
                <a:latin typeface="Aptos" panose="020B0004020202020204" pitchFamily="34" charset="0"/>
              </a:rPr>
            </a:br>
            <a:r>
              <a:rPr lang="en-IN" sz="3200" b="1" dirty="0">
                <a:latin typeface="Aptos" panose="020B0004020202020204" pitchFamily="34" charset="0"/>
              </a:rPr>
              <a:t>Design : Based on </a:t>
            </a:r>
            <a:r>
              <a:rPr lang="en-US" sz="3200" b="1" dirty="0">
                <a:latin typeface="Aptos" panose="020B0004020202020204" pitchFamily="34" charset="0"/>
              </a:rPr>
              <a:t>Parallel Addition Technique”</a:t>
            </a:r>
            <a:endParaRPr sz="3200" b="1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B171CF6-5ED2-37F5-B7DB-512F7B22B44E}"/>
              </a:ext>
            </a:extLst>
          </p:cNvPr>
          <p:cNvSpPr txBox="1"/>
          <p:nvPr/>
        </p:nvSpPr>
        <p:spPr>
          <a:xfrm>
            <a:off x="533400" y="4248150"/>
            <a:ext cx="880515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Roll no.’s :         230102059	                230102064	          230102065</a:t>
            </a:r>
          </a:p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Names :	          Aditya Sharma               Anuj Gupta	          Piyush Prasad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63674-2964-E347-E78C-AB89A7867448}"/>
              </a:ext>
            </a:extLst>
          </p:cNvPr>
          <p:cNvSpPr txBox="1"/>
          <p:nvPr/>
        </p:nvSpPr>
        <p:spPr>
          <a:xfrm>
            <a:off x="457200" y="3867214"/>
            <a:ext cx="127504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" panose="020B0004020202020204" pitchFamily="34" charset="0"/>
              </a:rPr>
              <a:t>Group - 5</a:t>
            </a:r>
          </a:p>
        </p:txBody>
      </p:sp>
    </p:spTree>
    <p:extLst>
      <p:ext uri="{BB962C8B-B14F-4D97-AF65-F5344CB8AC3E}">
        <p14:creationId xmlns:p14="http://schemas.microsoft.com/office/powerpoint/2010/main" val="277767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B39F2E-30E9-9179-533A-C016841A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C046C7-FF37-B682-88B7-78B5CB81520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17B346D-31B8-F7B0-CA69-DC6B607312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61848"/>
            <a:ext cx="5746135" cy="609385"/>
          </a:xfrm>
          <a:prstGeom prst="rect">
            <a:avLst/>
          </a:prstGeom>
        </p:spPr>
        <p:txBody>
          <a:bodyPr vert="horz" wrap="square" lIns="0" tIns="176772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00"/>
              </a:spcBef>
            </a:pPr>
            <a:r>
              <a:rPr lang="en-IN" sz="2800" b="1" u="sng" spc="150" dirty="0">
                <a:solidFill>
                  <a:srgbClr val="FFFAF0"/>
                </a:solidFill>
                <a:latin typeface="Aptos" panose="020B0004020202020204" pitchFamily="34" charset="0"/>
              </a:rPr>
              <a:t>1. Recap of Week 2-3</a:t>
            </a:r>
            <a:endParaRPr sz="2800" b="1" u="sng" dirty="0">
              <a:latin typeface="Aptos" panose="020B00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62A100D-2634-8F59-6D0A-6009F15A1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200" y="514350"/>
            <a:ext cx="9753600" cy="3000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dirty="0">
              <a:latin typeface="Aptos" panose="020B00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Studied CSA concept and working principle based on selected paper </a:t>
            </a:r>
          </a:p>
          <a:p>
            <a:r>
              <a:rPr lang="en-US" dirty="0">
                <a:latin typeface="Aptos" panose="020B0004020202020204" pitchFamily="34" charset="0"/>
              </a:rPr>
              <a:t>• Identified key building blocks:</a:t>
            </a:r>
          </a:p>
          <a:p>
            <a:r>
              <a:rPr lang="en-US" dirty="0">
                <a:latin typeface="Aptos" panose="020B0004020202020204" pitchFamily="34" charset="0"/>
              </a:rPr>
              <a:t>      • Pre-computation logic</a:t>
            </a:r>
          </a:p>
          <a:p>
            <a:r>
              <a:rPr lang="en-US" dirty="0">
                <a:latin typeface="Aptos" panose="020B0004020202020204" pitchFamily="34" charset="0"/>
              </a:rPr>
              <a:t>      • CSA unit</a:t>
            </a:r>
          </a:p>
          <a:p>
            <a:r>
              <a:rPr lang="en-US" dirty="0">
                <a:latin typeface="Aptos" panose="020B0004020202020204" pitchFamily="34" charset="0"/>
              </a:rPr>
              <a:t>      • Top-level module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Designed a signal flow graph between modules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Prepared design hierarchy for implementation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Converted mathematical CSA equations into RTL logic structure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Planned parallel full-adder array for multi-operand addition</a:t>
            </a:r>
          </a:p>
        </p:txBody>
      </p:sp>
    </p:spTree>
    <p:extLst>
      <p:ext uri="{BB962C8B-B14F-4D97-AF65-F5344CB8AC3E}">
        <p14:creationId xmlns:p14="http://schemas.microsoft.com/office/powerpoint/2010/main" val="421914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7DBF-5FC5-1D7C-7FA8-9C954C15C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74" y="133350"/>
            <a:ext cx="5746135" cy="384721"/>
          </a:xfrm>
        </p:spPr>
        <p:txBody>
          <a:bodyPr/>
          <a:lstStyle/>
          <a:p>
            <a:r>
              <a:rPr lang="en-IN" b="1" u="sng" dirty="0">
                <a:latin typeface="Aptos" panose="020B0004020202020204" pitchFamily="34" charset="0"/>
              </a:rPr>
              <a:t>2. Mathematical Operation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7484AB8-A31A-AE30-F7FF-F8FF8EA0C2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27874" y="590907"/>
                <a:ext cx="7866380" cy="4263479"/>
              </a:xfrm>
            </p:spPr>
            <p:txBody>
              <a:bodyPr/>
              <a:lstStyle/>
              <a:p>
                <a:r>
                  <a:rPr lang="en-IN" b="0" dirty="0">
                    <a:solidFill>
                      <a:schemeClr val="bg1">
                        <a:lumMod val="95000"/>
                      </a:schemeClr>
                    </a:solidFill>
                    <a:latin typeface="Aptos" panose="020B0004020202020204" pitchFamily="34" charset="0"/>
                  </a:rPr>
                  <a:t>For three inputs A, B, C: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dirty="0">
                  <a:solidFill>
                    <a:schemeClr val="bg1">
                      <a:lumMod val="95000"/>
                    </a:schemeClr>
                  </a:solidFill>
                  <a:latin typeface="Aptos" panose="020B0004020202020204" pitchFamily="34" charset="0"/>
                </a:endParaRPr>
              </a:p>
              <a:p>
                <a:r>
                  <a:rPr lang="en-IN" dirty="0">
                    <a:solidFill>
                      <a:schemeClr val="bg1">
                        <a:lumMod val="95000"/>
                      </a:schemeClr>
                    </a:solidFill>
                    <a:latin typeface="Aptos" panose="020B0004020202020204" pitchFamily="34" charset="0"/>
                  </a:rPr>
                  <a:t>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>
                  <a:solidFill>
                    <a:schemeClr val="bg1">
                      <a:lumMod val="95000"/>
                    </a:schemeClr>
                  </a:solidFill>
                  <a:latin typeface="Aptos" panose="020B0004020202020204" pitchFamily="34" charset="0"/>
                </a:endParaRPr>
              </a:p>
              <a:p>
                <a:r>
                  <a:rPr lang="en-IN" b="0" dirty="0">
                    <a:solidFill>
                      <a:schemeClr val="bg1">
                        <a:lumMod val="95000"/>
                      </a:schemeClr>
                    </a:solidFill>
                    <a:latin typeface="Aptos" panose="020B0004020202020204" pitchFamily="34" charset="0"/>
                  </a:rPr>
                  <a:t>Final Output: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𝑅𝑒𝑠𝑢𝑙𝑡</m:t>
                      </m:r>
                      <m:r>
                        <a:rPr lang="en-IN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ar-AE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&lt;&lt;</m:t>
                          </m:r>
                          <m:r>
                            <a:rPr lang="ar-AE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dirty="0">
                  <a:solidFill>
                    <a:schemeClr val="bg1">
                      <a:lumMod val="95000"/>
                    </a:schemeClr>
                  </a:solidFill>
                  <a:latin typeface="Aptos" panose="020B0004020202020204" pitchFamily="34" charset="0"/>
                </a:endParaRPr>
              </a:p>
              <a:p>
                <a:endParaRPr lang="en-IN" dirty="0">
                  <a:solidFill>
                    <a:schemeClr val="bg1">
                      <a:lumMod val="95000"/>
                    </a:schemeClr>
                  </a:solidFill>
                  <a:latin typeface="Aptos" panose="020B0004020202020204" pitchFamily="34" charset="0"/>
                </a:endParaRPr>
              </a:p>
              <a:p>
                <a:r>
                  <a:rPr lang="en-IN" dirty="0">
                    <a:solidFill>
                      <a:schemeClr val="bg1">
                        <a:lumMod val="95000"/>
                      </a:schemeClr>
                    </a:solidFill>
                    <a:latin typeface="Aptos" panose="020B0004020202020204" pitchFamily="34" charset="0"/>
                  </a:rPr>
                  <a:t>Latency Analysis : </a:t>
                </a:r>
              </a:p>
              <a:p>
                <a:r>
                  <a:rPr lang="en-IN" b="0" dirty="0">
                    <a:solidFill>
                      <a:schemeClr val="bg1">
                        <a:lumMod val="95000"/>
                      </a:schemeClr>
                    </a:solidFill>
                    <a:latin typeface="Aptos" panose="020B0004020202020204" pitchFamily="34" charset="0"/>
                  </a:rPr>
                  <a:t>Latency = Time to produce final output</a:t>
                </a:r>
              </a:p>
              <a:p>
                <a:endParaRPr lang="en-IN" b="0" dirty="0">
                  <a:solidFill>
                    <a:schemeClr val="bg1">
                      <a:lumMod val="95000"/>
                    </a:schemeClr>
                  </a:solidFill>
                  <a:latin typeface="Aptos" panose="020B0004020202020204" pitchFamily="34" charset="0"/>
                </a:endParaRPr>
              </a:p>
              <a:p>
                <a:r>
                  <a:rPr lang="en-IN" b="0" dirty="0">
                    <a:solidFill>
                      <a:schemeClr val="bg1">
                        <a:lumMod val="95000"/>
                      </a:schemeClr>
                    </a:solidFill>
                    <a:latin typeface="Aptos" panose="020B0004020202020204" pitchFamily="34" charset="0"/>
                  </a:rPr>
                  <a:t>        Ripple Carry:                     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𝐿𝑎𝑡𝑒𝑛𝑐𝑦</m:t>
                    </m:r>
                    <m:r>
                      <a:rPr lang="en-IN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𝐹𝐴</m:t>
                        </m:r>
                      </m:sub>
                    </m:sSub>
                  </m:oMath>
                </a14:m>
                <a:endParaRPr lang="en-IN" dirty="0">
                  <a:solidFill>
                    <a:schemeClr val="bg1">
                      <a:lumMod val="95000"/>
                    </a:schemeClr>
                  </a:solidFill>
                  <a:latin typeface="Aptos" panose="020B0004020202020204" pitchFamily="34" charset="0"/>
                </a:endParaRPr>
              </a:p>
              <a:p>
                <a:endParaRPr lang="ar-AE" dirty="0">
                  <a:solidFill>
                    <a:schemeClr val="bg1">
                      <a:lumMod val="95000"/>
                    </a:schemeClr>
                  </a:solidFill>
                  <a:latin typeface="Aptos" panose="020B0004020202020204" pitchFamily="34" charset="0"/>
                </a:endParaRPr>
              </a:p>
              <a:p>
                <a:r>
                  <a:rPr lang="en-IN" b="0" dirty="0">
                    <a:solidFill>
                      <a:schemeClr val="bg1">
                        <a:lumMod val="95000"/>
                      </a:schemeClr>
                    </a:solidFill>
                    <a:latin typeface="Aptos" panose="020B0004020202020204" pitchFamily="34" charset="0"/>
                  </a:rPr>
                  <a:t>        Carry Save:                       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𝐿𝑎𝑡𝑒𝑛𝑐𝑦</m:t>
                    </m:r>
                    <m:r>
                      <a:rPr lang="en-IN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𝐹𝐴</m:t>
                        </m:r>
                      </m:sub>
                    </m:sSub>
                    <m:r>
                      <a:rPr lang="ar-AE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𝐹𝑖𝑛𝑎𝑙𝐴𝑑𝑑𝑒𝑟</m:t>
                        </m:r>
                      </m:sub>
                    </m:sSub>
                  </m:oMath>
                </a14:m>
                <a:endParaRPr lang="en-IN" dirty="0">
                  <a:solidFill>
                    <a:schemeClr val="bg1">
                      <a:lumMod val="95000"/>
                    </a:schemeClr>
                  </a:solidFill>
                  <a:latin typeface="Aptos" panose="020B0004020202020204" pitchFamily="34" charset="0"/>
                </a:endParaRPr>
              </a:p>
              <a:p>
                <a:endParaRPr lang="en-IN" dirty="0">
                  <a:solidFill>
                    <a:schemeClr val="bg1">
                      <a:lumMod val="95000"/>
                    </a:schemeClr>
                  </a:solidFill>
                  <a:latin typeface="Aptos" panose="020B0004020202020204" pitchFamily="34" charset="0"/>
                </a:endParaRPr>
              </a:p>
              <a:p>
                <a:r>
                  <a:rPr lang="en-IN" dirty="0">
                    <a:solidFill>
                      <a:schemeClr val="bg1">
                        <a:lumMod val="95000"/>
                      </a:schemeClr>
                    </a:solidFill>
                    <a:latin typeface="Aptos" panose="020B0004020202020204" pitchFamily="34" charset="0"/>
                  </a:rPr>
                  <a:t>CSA reduces latency by limiting carry propagation to final stage only.</a:t>
                </a:r>
              </a:p>
              <a:p>
                <a:endParaRPr lang="ar-AE" dirty="0">
                  <a:solidFill>
                    <a:schemeClr val="bg1">
                      <a:lumMod val="95000"/>
                    </a:schemeClr>
                  </a:solidFill>
                  <a:latin typeface="Aptos" panose="020B0004020202020204" pitchFamily="34" charset="0"/>
                </a:endParaRPr>
              </a:p>
              <a:p>
                <a:endParaRPr lang="en-IN" dirty="0">
                  <a:solidFill>
                    <a:schemeClr val="bg1">
                      <a:lumMod val="9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7484AB8-A31A-AE30-F7FF-F8FF8EA0C2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7874" y="590907"/>
                <a:ext cx="7866380" cy="4263479"/>
              </a:xfrm>
              <a:blipFill>
                <a:blip r:embed="rId2"/>
                <a:stretch>
                  <a:fillRect l="-1938" t="-18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E6FFF68-E510-8E13-EAE1-43B44B732E02}"/>
              </a:ext>
            </a:extLst>
          </p:cNvPr>
          <p:cNvSpPr txBox="1"/>
          <p:nvPr/>
        </p:nvSpPr>
        <p:spPr>
          <a:xfrm>
            <a:off x="-76200" y="4857750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Reference - </a:t>
            </a:r>
            <a:r>
              <a:rPr lang="en-US" sz="1200" dirty="0">
                <a:solidFill>
                  <a:schemeClr val="bg1"/>
                </a:solidFill>
                <a:effectLst/>
              </a:rPr>
              <a:t>Digital Arithmetic by Miloš D. </a:t>
            </a:r>
            <a:r>
              <a:rPr lang="en-US" sz="1200" dirty="0" err="1">
                <a:solidFill>
                  <a:schemeClr val="bg1"/>
                </a:solidFill>
                <a:effectLst/>
              </a:rPr>
              <a:t>Ercegovac</a:t>
            </a:r>
            <a:r>
              <a:rPr lang="en-US" sz="1200" dirty="0">
                <a:solidFill>
                  <a:schemeClr val="bg1"/>
                </a:solidFill>
                <a:effectLst/>
              </a:rPr>
              <a:t> and Tomás Lang</a:t>
            </a:r>
          </a:p>
          <a:p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174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6EEE9-BF54-E94E-15DF-8034065F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27" y="133350"/>
            <a:ext cx="5746135" cy="430887"/>
          </a:xfrm>
        </p:spPr>
        <p:txBody>
          <a:bodyPr/>
          <a:lstStyle/>
          <a:p>
            <a:r>
              <a:rPr lang="en-IN" sz="28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3. Throughput Analysis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225E58-8DF1-8A1F-20E2-A538931E41E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56227" y="661533"/>
                <a:ext cx="7866380" cy="4445704"/>
              </a:xfrm>
            </p:spPr>
            <p:txBody>
              <a:bodyPr/>
              <a:lstStyle/>
              <a:p>
                <a:r>
                  <a:rPr lang="en-I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</a:rPr>
                  <a:t>Definition: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IN" sz="1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1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𝑟𝑜𝑢𝑔</m:t>
                      </m:r>
                      <m:r>
                        <a:rPr lang="en-IN" sz="1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1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𝑝𝑢𝑡</m:t>
                      </m:r>
                      <m:r>
                        <a:rPr lang="en-IN" sz="1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𝐶𝑟𝑖𝑡𝑖𝑐𝑎𝑙</m:t>
                          </m:r>
                          <m:r>
                            <m:rPr>
                              <m:nor/>
                            </m:rPr>
                            <a:rPr lang="ar-AE" sz="1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ptos" panose="020B0004020202020204" pitchFamily="34" charset="0"/>
                            </a:rPr>
                            <m:t> </m:t>
                          </m:r>
                          <m:r>
                            <a:rPr lang="ar-AE" sz="1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𝑃𝑎𝑡</m:t>
                          </m:r>
                          <m:r>
                            <a:rPr lang="ar-AE" sz="1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m:rPr>
                              <m:nor/>
                            </m:rPr>
                            <a:rPr lang="ar-AE" sz="1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Aptos" panose="020B0004020202020204" pitchFamily="34" charset="0"/>
                            </a:rPr>
                            <m:t> </m:t>
                          </m:r>
                          <m:r>
                            <a:rPr lang="ar-AE" sz="1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𝐷𝑒𝑙𝑎𝑦</m:t>
                          </m:r>
                        </m:den>
                      </m:f>
                    </m:oMath>
                  </m:oMathPara>
                </a14:m>
                <a:endParaRPr lang="ar-AE" sz="18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" panose="020B0004020202020204" pitchFamily="34" charset="0"/>
                </a:endParaRPr>
              </a:p>
              <a:p>
                <a:endParaRPr lang="en-IN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" panose="020B0004020202020204" pitchFamily="34" charset="0"/>
                </a:endParaRPr>
              </a:p>
              <a:p>
                <a:r>
                  <a:rPr lang="en-I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</a:rPr>
                  <a:t>Ripple Carry Adder: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𝑅𝐶𝐴</m:t>
                        </m:r>
                      </m:sub>
                    </m:sSub>
                    <m:r>
                      <a:rPr lang="ar-AE" sz="1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ar-AE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𝐹𝐴</m:t>
                        </m:r>
                      </m:sub>
                    </m:sSub>
                  </m:oMath>
                </a14:m>
                <a:endParaRPr lang="ar-AE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" panose="020B0004020202020204" pitchFamily="34" charset="0"/>
                </a:endParaRPr>
              </a:p>
              <a:p>
                <a:endParaRPr lang="en-IN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" panose="020B0004020202020204" pitchFamily="34" charset="0"/>
                </a:endParaRPr>
              </a:p>
              <a:p>
                <a:r>
                  <a:rPr lang="en-I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</a:rPr>
                  <a:t>Carry Save Adder: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𝐶𝑆𝐴</m:t>
                        </m:r>
                      </m:sub>
                    </m:sSub>
                    <m:r>
                      <a:rPr lang="ar-AE" sz="1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𝐹𝐴</m:t>
                        </m:r>
                      </m:sub>
                    </m:sSub>
                    <m:r>
                      <a:rPr lang="ar-AE" sz="1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𝐹𝑖𝑛𝑎𝑙𝐴𝑑𝑑𝑒𝑟</m:t>
                        </m:r>
                      </m:sub>
                    </m:sSub>
                  </m:oMath>
                </a14:m>
                <a:endParaRPr lang="en-IN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" panose="020B0004020202020204" pitchFamily="34" charset="0"/>
                </a:endParaRPr>
              </a:p>
              <a:p>
                <a:endParaRPr lang="ar-AE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" panose="020B0004020202020204" pitchFamily="34" charset="0"/>
                </a:endParaRPr>
              </a:p>
              <a:p>
                <a:r>
                  <a:rPr lang="en-I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</a:rPr>
                  <a:t>Example (16-bit):</a:t>
                </a:r>
              </a:p>
              <a:p>
                <a:r>
                  <a:rPr lang="en-I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</a:rPr>
                  <a:t>          </a:t>
                </a:r>
                <a:r>
                  <a:rPr lang="en-IN" sz="18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</a:rPr>
                  <a:t>RCA Delay = 32 ns</a:t>
                </a:r>
              </a:p>
              <a:p>
                <a:r>
                  <a:rPr lang="en-I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</a:rPr>
                  <a:t>          </a:t>
                </a:r>
                <a:r>
                  <a:rPr lang="en-IN" sz="18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</a:rPr>
                  <a:t>CSA Delay = 8 ns</a:t>
                </a:r>
              </a:p>
              <a:p>
                <a:r>
                  <a:rPr lang="en-I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</a:rPr>
                  <a:t>Throughput:</a:t>
                </a:r>
              </a:p>
              <a:p>
                <a:r>
                  <a:rPr lang="en-I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</a:rPr>
                  <a:t>          </a:t>
                </a:r>
                <a:r>
                  <a:rPr lang="en-IN" sz="18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</a:rPr>
                  <a:t>RCA = 31.25 MHz</a:t>
                </a:r>
              </a:p>
              <a:p>
                <a:r>
                  <a:rPr lang="en-I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</a:rPr>
                  <a:t>          </a:t>
                </a:r>
                <a:r>
                  <a:rPr lang="en-IN" sz="18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</a:rPr>
                  <a:t>CSA = 125 MHz</a:t>
                </a:r>
              </a:p>
              <a:p>
                <a:r>
                  <a:rPr lang="en-I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</a:rPr>
                  <a:t>CSA gives significantly higher throughput.</a:t>
                </a:r>
              </a:p>
              <a:p>
                <a:endParaRPr lang="en-IN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225E58-8DF1-8A1F-20E2-A538931E41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56227" y="661533"/>
                <a:ext cx="7866380" cy="4445704"/>
              </a:xfrm>
              <a:blipFill>
                <a:blip r:embed="rId2"/>
                <a:stretch>
                  <a:fillRect l="-1782" t="-16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35141D0-D37F-9A6B-5E7B-54AD6ED82835}"/>
              </a:ext>
            </a:extLst>
          </p:cNvPr>
          <p:cNvSpPr txBox="1"/>
          <p:nvPr/>
        </p:nvSpPr>
        <p:spPr>
          <a:xfrm>
            <a:off x="0" y="4894059"/>
            <a:ext cx="5257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tx1"/>
                </a:solidFill>
              </a:rPr>
              <a:t>Reference - </a:t>
            </a:r>
            <a:r>
              <a:rPr lang="en-US" sz="1200" dirty="0">
                <a:solidFill>
                  <a:schemeClr val="tx1"/>
                </a:solidFill>
                <a:effectLst/>
              </a:rPr>
              <a:t>Digital Arithmetic by Miloš D. </a:t>
            </a:r>
            <a:r>
              <a:rPr lang="en-US" sz="1200" dirty="0" err="1">
                <a:solidFill>
                  <a:schemeClr val="tx1"/>
                </a:solidFill>
                <a:effectLst/>
              </a:rPr>
              <a:t>Ercegovac</a:t>
            </a:r>
            <a:r>
              <a:rPr lang="en-US" sz="1200" dirty="0">
                <a:solidFill>
                  <a:schemeClr val="tx1"/>
                </a:solidFill>
                <a:effectLst/>
              </a:rPr>
              <a:t> and Tomás Lang</a:t>
            </a:r>
          </a:p>
          <a:p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783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2BCCC-9446-A601-7E94-652B7394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74" y="133350"/>
            <a:ext cx="5746135" cy="430887"/>
          </a:xfrm>
        </p:spPr>
        <p:txBody>
          <a:bodyPr/>
          <a:lstStyle/>
          <a:p>
            <a:r>
              <a:rPr lang="en-IN" sz="2800" b="1" u="sng" dirty="0">
                <a:latin typeface="Aptos" panose="020B0004020202020204" pitchFamily="34" charset="0"/>
              </a:rPr>
              <a:t>4. Propagation Delay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B7D4F2-C323-B734-9EEA-1A291126577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27874" y="666750"/>
                <a:ext cx="7866380" cy="4970591"/>
              </a:xfrm>
            </p:spPr>
            <p:txBody>
              <a:bodyPr/>
              <a:lstStyle/>
              <a:p>
                <a:r>
                  <a:rPr lang="en-IN" dirty="0">
                    <a:solidFill>
                      <a:schemeClr val="bg1">
                        <a:lumMod val="95000"/>
                      </a:schemeClr>
                    </a:solidFill>
                  </a:rPr>
                  <a:t>Ripple Carry Adder:</a:t>
                </a:r>
              </a:p>
              <a:p>
                <a:r>
                  <a:rPr lang="en-IN" b="0" dirty="0">
                    <a:solidFill>
                      <a:schemeClr val="bg1">
                        <a:lumMod val="95000"/>
                      </a:schemeClr>
                    </a:solidFill>
                  </a:rPr>
                  <a:t>  Carry propagates through all bits</a:t>
                </a:r>
              </a:p>
              <a:p>
                <a:r>
                  <a:rPr lang="en-IN" dirty="0">
                    <a:solidFill>
                      <a:schemeClr val="bg1">
                        <a:lumMod val="95000"/>
                      </a:schemeClr>
                    </a:solidFill>
                  </a:rPr>
                  <a:t>                                                               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𝐷𝑒𝑙𝑎𝑦</m:t>
                    </m:r>
                    <m:r>
                      <a:rPr lang="en-IN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a:rPr lang="en-IN" i="1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r>
                  <a:rPr lang="en-IN" dirty="0">
                    <a:solidFill>
                      <a:schemeClr val="bg1">
                        <a:lumMod val="95000"/>
                      </a:schemeClr>
                    </a:solidFill>
                  </a:rPr>
                  <a:t>Carry Save Adder:</a:t>
                </a:r>
              </a:p>
              <a:p>
                <a:r>
                  <a:rPr lang="en-IN" b="0" dirty="0">
                    <a:solidFill>
                      <a:schemeClr val="bg1">
                        <a:lumMod val="95000"/>
                      </a:schemeClr>
                    </a:solidFill>
                  </a:rPr>
                  <a:t>  No immediate carry propagation</a:t>
                </a:r>
              </a:p>
              <a:p>
                <a:r>
                  <a:rPr lang="en-IN" dirty="0">
                    <a:solidFill>
                      <a:schemeClr val="bg1">
                        <a:lumMod val="95000"/>
                      </a:schemeClr>
                    </a:solidFill>
                  </a:rPr>
                  <a:t>                                                               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𝐷𝑒𝑙𝑎𝑦</m:t>
                    </m:r>
                    <m:r>
                      <a:rPr lang="en-IN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a:rPr lang="en-IN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r>
                  <a:rPr lang="en-IN" dirty="0">
                    <a:solidFill>
                      <a:schemeClr val="bg1">
                        <a:lumMod val="95000"/>
                      </a:schemeClr>
                    </a:solidFill>
                  </a:rPr>
                  <a:t>          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𝐶𝑆𝐴</m:t>
                        </m:r>
                      </m:sub>
                    </m:sSub>
                    <m:r>
                      <a:rPr lang="ar-AE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&lt;&lt;</m:t>
                    </m:r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𝑅𝐶𝐴</m:t>
                        </m:r>
                      </m:sub>
                    </m:sSub>
                  </m:oMath>
                </a14:m>
                <a:endParaRPr lang="en-IN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r>
                  <a:rPr lang="en-IN" dirty="0">
                    <a:solidFill>
                      <a:schemeClr val="bg1">
                        <a:lumMod val="95000"/>
                      </a:schemeClr>
                    </a:solidFill>
                  </a:rPr>
                  <a:t>Area Utilization :</a:t>
                </a:r>
              </a:p>
              <a:p>
                <a:r>
                  <a:rPr lang="en-IN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</a:p>
              <a:p>
                <a:r>
                  <a:rPr lang="en-IN" b="0" dirty="0">
                    <a:solidFill>
                      <a:schemeClr val="bg1">
                        <a:lumMod val="95000"/>
                      </a:schemeClr>
                    </a:solidFill>
                  </a:rPr>
                  <a:t>Ripple Carry: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𝑅𝐶𝐴</m:t>
                        </m:r>
                      </m:sub>
                    </m:sSub>
                    <m:r>
                      <a:rPr lang="ar-AE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𝐹𝐴</m:t>
                        </m:r>
                      </m:sub>
                    </m:sSub>
                  </m:oMath>
                </a14:m>
                <a:endParaRPr lang="en-IN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endParaRPr lang="ar-AE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r>
                  <a:rPr lang="en-IN" b="0" dirty="0">
                    <a:solidFill>
                      <a:schemeClr val="bg1">
                        <a:lumMod val="95000"/>
                      </a:schemeClr>
                    </a:solidFill>
                  </a:rPr>
                  <a:t>Carry Save: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𝐶𝑆𝐴</m:t>
                        </m:r>
                      </m:sub>
                    </m:sSub>
                    <m:r>
                      <a:rPr lang="ar-AE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𝐹𝐴</m:t>
                        </m:r>
                      </m:sub>
                    </m:sSub>
                    <m:r>
                      <a:rPr lang="ar-AE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𝐹𝑖𝑛𝑎𝑙𝐴𝑑𝑑𝑒𝑟</m:t>
                        </m:r>
                      </m:sub>
                    </m:sSub>
                  </m:oMath>
                </a14:m>
                <a:endParaRPr lang="en-IN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endParaRPr lang="ar-AE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r>
                  <a:rPr lang="en-IN" dirty="0">
                    <a:solidFill>
                      <a:schemeClr val="bg1">
                        <a:lumMod val="95000"/>
                      </a:schemeClr>
                    </a:solidFill>
                  </a:rPr>
                  <a:t>CSA uses slightly more area due to additional final adder stage.</a:t>
                </a:r>
              </a:p>
              <a:p>
                <a:endParaRPr lang="en-IN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endParaRPr lang="ar-AE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endParaRPr lang="en-IN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B7D4F2-C323-B734-9EEA-1A2911265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7874" y="666750"/>
                <a:ext cx="7866380" cy="4970591"/>
              </a:xfrm>
              <a:blipFill>
                <a:blip r:embed="rId2"/>
                <a:stretch>
                  <a:fillRect l="-1938" t="-15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A59596B-D24F-7E0C-033E-6211F9005B23}"/>
              </a:ext>
            </a:extLst>
          </p:cNvPr>
          <p:cNvSpPr txBox="1"/>
          <p:nvPr/>
        </p:nvSpPr>
        <p:spPr>
          <a:xfrm>
            <a:off x="0" y="4912667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Reference - </a:t>
            </a:r>
            <a:r>
              <a:rPr lang="en-US" sz="1200" dirty="0">
                <a:solidFill>
                  <a:schemeClr val="bg1"/>
                </a:solidFill>
                <a:effectLst/>
              </a:rPr>
              <a:t>Digital Arithmetic by Miloš D. </a:t>
            </a:r>
            <a:r>
              <a:rPr lang="en-US" sz="1200" dirty="0" err="1">
                <a:solidFill>
                  <a:schemeClr val="bg1"/>
                </a:solidFill>
                <a:effectLst/>
              </a:rPr>
              <a:t>Ercegovac</a:t>
            </a:r>
            <a:r>
              <a:rPr lang="en-US" sz="1200" dirty="0">
                <a:solidFill>
                  <a:schemeClr val="bg1"/>
                </a:solidFill>
                <a:effectLst/>
              </a:rPr>
              <a:t> and Tomás Lang</a:t>
            </a:r>
          </a:p>
          <a:p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138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9F46C-9A20-6AF6-76ED-9B22B6F89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74" y="133350"/>
            <a:ext cx="5746135" cy="430887"/>
          </a:xfrm>
        </p:spPr>
        <p:txBody>
          <a:bodyPr/>
          <a:lstStyle/>
          <a:p>
            <a:r>
              <a:rPr lang="en-IN" sz="28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5. Power Consumption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1E5250F-B686-E87E-A05C-0E207EB48F0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27874" y="811648"/>
                <a:ext cx="7866380" cy="4262705"/>
              </a:xfrm>
            </p:spPr>
            <p:txBody>
              <a:bodyPr/>
              <a:lstStyle/>
              <a:p>
                <a:r>
                  <a:rPr lang="en-IN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Dynamic Power: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p>
                        <m:sSupPr>
                          <m:ctrlPr>
                            <a:rPr lang="ar-AE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ar-AE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IN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endParaRPr lang="ar-AE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r>
                  <a:rPr lang="en-IN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IN" sz="1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 sz="18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 = Switching activity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sz="1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IN" sz="18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= Load capacitance</a:t>
                </a:r>
              </a:p>
              <a:p>
                <a14:m>
                  <m:oMath xmlns:m="http://schemas.openxmlformats.org/officeDocument/2006/math">
                    <m:r>
                      <a:rPr lang="en-IN" sz="1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sz="18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 = Supply voltage</a:t>
                </a:r>
              </a:p>
              <a:p>
                <a14:m>
                  <m:oMath xmlns:m="http://schemas.openxmlformats.org/officeDocument/2006/math">
                    <m:r>
                      <a:rPr lang="en-IN" sz="1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sz="18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 = Frequency</a:t>
                </a:r>
              </a:p>
              <a:p>
                <a:endParaRPr lang="en-IN" sz="1800" b="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r>
                  <a:rPr lang="en-IN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Why CSA reduces dynamic power:</a:t>
                </a:r>
              </a:p>
              <a:p>
                <a:r>
                  <a:rPr lang="en-IN" sz="18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Reduced carry switching activity</a:t>
                </a:r>
              </a:p>
              <a:p>
                <a:r>
                  <a:rPr lang="en-IN" sz="18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Shorter critical path</a:t>
                </a:r>
              </a:p>
              <a:p>
                <a:r>
                  <a:rPr lang="en-IN" sz="18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Less glitch propagation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𝐶𝑆𝐴</m:t>
                          </m:r>
                        </m:sub>
                      </m:sSub>
                      <m:r>
                        <a:rPr lang="ar-A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𝑅𝐶𝐴</m:t>
                          </m:r>
                        </m:sub>
                      </m:sSub>
                    </m:oMath>
                  </m:oMathPara>
                </a14:m>
                <a:endParaRPr lang="ar-AE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endParaRPr lang="en-IN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1E5250F-B686-E87E-A05C-0E207EB48F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7874" y="811648"/>
                <a:ext cx="7866380" cy="4262705"/>
              </a:xfrm>
              <a:blipFill>
                <a:blip r:embed="rId2"/>
                <a:stretch>
                  <a:fillRect l="-1938" t="-18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1C95CB8-67A8-2B42-ADBE-A50841319C79}"/>
              </a:ext>
            </a:extLst>
          </p:cNvPr>
          <p:cNvSpPr txBox="1"/>
          <p:nvPr/>
        </p:nvSpPr>
        <p:spPr>
          <a:xfrm>
            <a:off x="0" y="4843520"/>
            <a:ext cx="533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tx1"/>
                </a:solidFill>
              </a:rPr>
              <a:t>Reference - </a:t>
            </a:r>
            <a:r>
              <a:rPr lang="en-US" sz="1200" dirty="0">
                <a:solidFill>
                  <a:schemeClr val="tx1"/>
                </a:solidFill>
                <a:effectLst/>
              </a:rPr>
              <a:t>Digital Arithmetic by Miloš D. </a:t>
            </a:r>
            <a:r>
              <a:rPr lang="en-US" sz="1200" dirty="0" err="1">
                <a:solidFill>
                  <a:schemeClr val="tx1"/>
                </a:solidFill>
                <a:effectLst/>
              </a:rPr>
              <a:t>Ercegovac</a:t>
            </a:r>
            <a:r>
              <a:rPr lang="en-US" sz="1200" dirty="0">
                <a:solidFill>
                  <a:schemeClr val="tx1"/>
                </a:solidFill>
                <a:effectLst/>
              </a:rPr>
              <a:t> and Tomás Lang</a:t>
            </a:r>
          </a:p>
          <a:p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737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5A9F9-6C99-6CE5-6BCF-D9253FE09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E383C7-0608-7BCF-3A2B-78264EEF3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2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785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7B7CC-8018-5BD4-20D0-78C03FFE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EB8C5F-FB62-1B6F-9C3B-E840F41ED4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61848"/>
            <a:ext cx="6350650" cy="487280"/>
          </a:xfrm>
          <a:prstGeom prst="rect">
            <a:avLst/>
          </a:prstGeom>
        </p:spPr>
        <p:txBody>
          <a:bodyPr vert="horz" wrap="square" lIns="0" tIns="116807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/>
              <a:t>8.  Timeline</a:t>
            </a:r>
            <a:endParaRPr sz="2100" b="1" dirty="0">
              <a:latin typeface="Aptos" panose="020B00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2D4F0A-304E-3246-05FB-3B43DCBE8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893934"/>
              </p:ext>
            </p:extLst>
          </p:nvPr>
        </p:nvGraphicFramePr>
        <p:xfrm>
          <a:off x="202550" y="742950"/>
          <a:ext cx="8865250" cy="419100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68556">
                  <a:extLst>
                    <a:ext uri="{9D8B030D-6E8A-4147-A177-3AD203B41FA5}">
                      <a16:colId xmlns:a16="http://schemas.microsoft.com/office/drawing/2014/main" val="1164084021"/>
                    </a:ext>
                  </a:extLst>
                </a:gridCol>
                <a:gridCol w="6796694">
                  <a:extLst>
                    <a:ext uri="{9D8B030D-6E8A-4147-A177-3AD203B41FA5}">
                      <a16:colId xmlns:a16="http://schemas.microsoft.com/office/drawing/2014/main" val="832724658"/>
                    </a:ext>
                  </a:extLst>
                </a:gridCol>
              </a:tblGrid>
              <a:tr h="435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Week 1   :-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0" dirty="0"/>
                        <a:t>Finalize Carry Save Adder specs, architecture selection , planning</a:t>
                      </a:r>
                      <a:endParaRPr lang="en-IN" sz="16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908170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2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 modular Verilog (pre-computer, SA_unit, top module)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921652"/>
                  </a:ext>
                </a:extLst>
              </a:tr>
              <a:tr h="375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3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Build testbench, run behavioral simulation in Vivado/Xcelium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341386"/>
                  </a:ext>
                </a:extLst>
              </a:tr>
              <a:tr h="3837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4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Functional verification, debug, waveform analysis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196530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5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 SDC constraints (timing, I/O), prepare for synthesis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597380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6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Synthesize in Cadence Genus (with DFT/scan), review area/timing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831791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7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Floor-planning and power planning in Innovus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82999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8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Placement, clock tree synthesis (CTS), signal routing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954493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9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Static Timing Analysis (STA), IR drop checks, power/area reporting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521106"/>
                  </a:ext>
                </a:extLst>
              </a:tr>
              <a:tr h="435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10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Final GDSII generation, documentation, PPT/report preparation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585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399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47780-BF14-E916-B379-C0CB8C9BA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50" y="61848"/>
            <a:ext cx="5746135" cy="384721"/>
          </a:xfrm>
        </p:spPr>
        <p:txBody>
          <a:bodyPr/>
          <a:lstStyle/>
          <a:p>
            <a:r>
              <a:rPr lang="en-IN" dirty="0"/>
              <a:t>    Conclusion :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2B3525-E4FB-DA27-FB96-A8A1E3948B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7874" y="1119188"/>
            <a:ext cx="852348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Carry Save Adder improves speed by eliminating intermediate carry propagation.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Critical path delay becomes independent of bit width.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Provides high throughput and reduced latency.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Slight area increase but significant performance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Suitable for high-speed VLSI systems like multipliers and DSP processors.</a:t>
            </a:r>
          </a:p>
        </p:txBody>
      </p:sp>
    </p:spTree>
    <p:extLst>
      <p:ext uri="{BB962C8B-B14F-4D97-AF65-F5344CB8AC3E}">
        <p14:creationId xmlns:p14="http://schemas.microsoft.com/office/powerpoint/2010/main" val="1850478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</TotalTime>
  <Words>607</Words>
  <Application>Microsoft Office PowerPoint</Application>
  <PresentationFormat>On-screen Show (16:9)</PresentationFormat>
  <Paragraphs>111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Cambria Math</vt:lpstr>
      <vt:lpstr>Office Theme</vt:lpstr>
      <vt:lpstr>“High Performance Carry Save Adder  Design : Based on Parallel Addition Technique”</vt:lpstr>
      <vt:lpstr>1. Recap of Week 2-3</vt:lpstr>
      <vt:lpstr>2. Mathematical Operation : </vt:lpstr>
      <vt:lpstr>3. Throughput Analysis : </vt:lpstr>
      <vt:lpstr>4. Propagation Delay : </vt:lpstr>
      <vt:lpstr>5. Power Consumption : </vt:lpstr>
      <vt:lpstr>PowerPoint Presentation</vt:lpstr>
      <vt:lpstr>8.  Timeline</vt:lpstr>
      <vt:lpstr>    Conclusion 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project</dc:title>
  <dc:creator>Anuj Gupta</dc:creator>
  <cp:lastModifiedBy>Anuj Gupta</cp:lastModifiedBy>
  <cp:revision>9</cp:revision>
  <dcterms:created xsi:type="dcterms:W3CDTF">2026-02-15T15:10:54Z</dcterms:created>
  <dcterms:modified xsi:type="dcterms:W3CDTF">2026-03-01T17:46:11Z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2026-02-15T00:00:00Z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2026-02-15T00:00:00Z</vt:filetime>
  </property>
</Properties>
</file>