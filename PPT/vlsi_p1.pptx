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750A83-2E1D-4978-AAAA-B06B4250B834}" v="6" dt="2026-02-16T05:47:32.07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j Gupta" userId="e5dab055c36b7fd1" providerId="LiveId" clId="{3220E06B-B7C6-4553-B7A0-C7A9BDCF1FB0}"/>
    <pc:docChg chg="undo custSel modSld">
      <pc:chgData name="Anuj Gupta" userId="e5dab055c36b7fd1" providerId="LiveId" clId="{3220E06B-B7C6-4553-B7A0-C7A9BDCF1FB0}" dt="2026-02-16T05:54:16.481" v="62" actId="1076"/>
      <pc:docMkLst>
        <pc:docMk/>
      </pc:docMkLst>
      <pc:sldChg chg="addSp delSp modSp mod setBg">
        <pc:chgData name="Anuj Gupta" userId="e5dab055c36b7fd1" providerId="LiveId" clId="{3220E06B-B7C6-4553-B7A0-C7A9BDCF1FB0}" dt="2026-02-16T05:54:16.481" v="62" actId="1076"/>
        <pc:sldMkLst>
          <pc:docMk/>
          <pc:sldMk cId="0" sldId="256"/>
        </pc:sldMkLst>
        <pc:spChg chg="mod">
          <ac:chgData name="Anuj Gupta" userId="e5dab055c36b7fd1" providerId="LiveId" clId="{3220E06B-B7C6-4553-B7A0-C7A9BDCF1FB0}" dt="2026-02-16T05:46:04.248" v="27" actId="1076"/>
          <ac:spMkLst>
            <pc:docMk/>
            <pc:sldMk cId="0" sldId="256"/>
            <ac:spMk id="3" creationId="{00000000-0000-0000-0000-000000000000}"/>
          </ac:spMkLst>
        </pc:spChg>
        <pc:spChg chg="del">
          <ac:chgData name="Anuj Gupta" userId="e5dab055c36b7fd1" providerId="LiveId" clId="{3220E06B-B7C6-4553-B7A0-C7A9BDCF1FB0}" dt="2026-02-16T05:45:17.718" v="18" actId="478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Anuj Gupta" userId="e5dab055c36b7fd1" providerId="LiveId" clId="{3220E06B-B7C6-4553-B7A0-C7A9BDCF1FB0}" dt="2026-02-16T05:46:26.817" v="32" actId="478"/>
          <ac:spMkLst>
            <pc:docMk/>
            <pc:sldMk cId="0" sldId="256"/>
            <ac:spMk id="6" creationId="{00000000-0000-0000-0000-000000000000}"/>
          </ac:spMkLst>
        </pc:spChg>
        <pc:spChg chg="add del mod">
          <ac:chgData name="Anuj Gupta" userId="e5dab055c36b7fd1" providerId="LiveId" clId="{3220E06B-B7C6-4553-B7A0-C7A9BDCF1FB0}" dt="2026-02-16T05:45:52.198" v="25"/>
          <ac:spMkLst>
            <pc:docMk/>
            <pc:sldMk cId="0" sldId="256"/>
            <ac:spMk id="8" creationId="{00000000-0000-0000-0000-000000000000}"/>
          </ac:spMkLst>
        </pc:spChg>
        <pc:spChg chg="add del mod">
          <ac:chgData name="Anuj Gupta" userId="e5dab055c36b7fd1" providerId="LiveId" clId="{3220E06B-B7C6-4553-B7A0-C7A9BDCF1FB0}" dt="2026-02-16T05:43:54.004" v="1" actId="21"/>
          <ac:spMkLst>
            <pc:docMk/>
            <pc:sldMk cId="0" sldId="256"/>
            <ac:spMk id="9" creationId="{BB508777-208C-D643-63E2-7B043AA688E5}"/>
          </ac:spMkLst>
        </pc:spChg>
        <pc:spChg chg="add del mod">
          <ac:chgData name="Anuj Gupta" userId="e5dab055c36b7fd1" providerId="LiveId" clId="{3220E06B-B7C6-4553-B7A0-C7A9BDCF1FB0}" dt="2026-02-16T05:43:54.004" v="1" actId="21"/>
          <ac:spMkLst>
            <pc:docMk/>
            <pc:sldMk cId="0" sldId="256"/>
            <ac:spMk id="11" creationId="{B7B76342-F563-CEED-863C-A48AFD37B197}"/>
          </ac:spMkLst>
        </pc:spChg>
        <pc:spChg chg="add del mod">
          <ac:chgData name="Anuj Gupta" userId="e5dab055c36b7fd1" providerId="LiveId" clId="{3220E06B-B7C6-4553-B7A0-C7A9BDCF1FB0}" dt="2026-02-16T05:43:54.004" v="1" actId="21"/>
          <ac:spMkLst>
            <pc:docMk/>
            <pc:sldMk cId="0" sldId="256"/>
            <ac:spMk id="12" creationId="{A3F5465D-70E3-6854-39E0-5D865581977E}"/>
          </ac:spMkLst>
        </pc:spChg>
        <pc:spChg chg="add del mod">
          <ac:chgData name="Anuj Gupta" userId="e5dab055c36b7fd1" providerId="LiveId" clId="{3220E06B-B7C6-4553-B7A0-C7A9BDCF1FB0}" dt="2026-02-16T05:43:54.004" v="1" actId="21"/>
          <ac:spMkLst>
            <pc:docMk/>
            <pc:sldMk cId="0" sldId="256"/>
            <ac:spMk id="13" creationId="{BAA5BF3E-A4EC-FB14-820A-7273D34D4281}"/>
          </ac:spMkLst>
        </pc:spChg>
        <pc:spChg chg="add mod">
          <ac:chgData name="Anuj Gupta" userId="e5dab055c36b7fd1" providerId="LiveId" clId="{3220E06B-B7C6-4553-B7A0-C7A9BDCF1FB0}" dt="2026-02-16T05:44:14.487" v="10"/>
          <ac:spMkLst>
            <pc:docMk/>
            <pc:sldMk cId="0" sldId="256"/>
            <ac:spMk id="14" creationId="{BB508777-208C-D643-63E2-7B043AA688E5}"/>
          </ac:spMkLst>
        </pc:spChg>
        <pc:spChg chg="add mod">
          <ac:chgData name="Anuj Gupta" userId="e5dab055c36b7fd1" providerId="LiveId" clId="{3220E06B-B7C6-4553-B7A0-C7A9BDCF1FB0}" dt="2026-02-16T05:44:14.487" v="10"/>
          <ac:spMkLst>
            <pc:docMk/>
            <pc:sldMk cId="0" sldId="256"/>
            <ac:spMk id="16" creationId="{B7B76342-F563-CEED-863C-A48AFD37B197}"/>
          </ac:spMkLst>
        </pc:spChg>
        <pc:spChg chg="add mod">
          <ac:chgData name="Anuj Gupta" userId="e5dab055c36b7fd1" providerId="LiveId" clId="{3220E06B-B7C6-4553-B7A0-C7A9BDCF1FB0}" dt="2026-02-16T05:44:14.487" v="10"/>
          <ac:spMkLst>
            <pc:docMk/>
            <pc:sldMk cId="0" sldId="256"/>
            <ac:spMk id="17" creationId="{A3F5465D-70E3-6854-39E0-5D865581977E}"/>
          </ac:spMkLst>
        </pc:spChg>
        <pc:spChg chg="add mod">
          <ac:chgData name="Anuj Gupta" userId="e5dab055c36b7fd1" providerId="LiveId" clId="{3220E06B-B7C6-4553-B7A0-C7A9BDCF1FB0}" dt="2026-02-16T05:44:14.487" v="10"/>
          <ac:spMkLst>
            <pc:docMk/>
            <pc:sldMk cId="0" sldId="256"/>
            <ac:spMk id="18" creationId="{BAA5BF3E-A4EC-FB14-820A-7273D34D4281}"/>
          </ac:spMkLst>
        </pc:spChg>
        <pc:spChg chg="add mod">
          <ac:chgData name="Anuj Gupta" userId="e5dab055c36b7fd1" providerId="LiveId" clId="{3220E06B-B7C6-4553-B7A0-C7A9BDCF1FB0}" dt="2026-02-16T05:45:49.449" v="23"/>
          <ac:spMkLst>
            <pc:docMk/>
            <pc:sldMk cId="0" sldId="256"/>
            <ac:spMk id="19" creationId="{D35883D5-2745-21D8-2790-9018504DC3BA}"/>
          </ac:spMkLst>
        </pc:spChg>
        <pc:spChg chg="add mod">
          <ac:chgData name="Anuj Gupta" userId="e5dab055c36b7fd1" providerId="LiveId" clId="{3220E06B-B7C6-4553-B7A0-C7A9BDCF1FB0}" dt="2026-02-16T05:45:49.449" v="23"/>
          <ac:spMkLst>
            <pc:docMk/>
            <pc:sldMk cId="0" sldId="256"/>
            <ac:spMk id="21" creationId="{8BB44A3B-655E-BC26-81FA-CE2E03BAFD3F}"/>
          </ac:spMkLst>
        </pc:spChg>
        <pc:spChg chg="add mod">
          <ac:chgData name="Anuj Gupta" userId="e5dab055c36b7fd1" providerId="LiveId" clId="{3220E06B-B7C6-4553-B7A0-C7A9BDCF1FB0}" dt="2026-02-16T05:45:49.449" v="23"/>
          <ac:spMkLst>
            <pc:docMk/>
            <pc:sldMk cId="0" sldId="256"/>
            <ac:spMk id="22" creationId="{543E383E-40F7-4716-44BD-9ACFC03B7DEB}"/>
          </ac:spMkLst>
        </pc:spChg>
        <pc:spChg chg="add mod">
          <ac:chgData name="Anuj Gupta" userId="e5dab055c36b7fd1" providerId="LiveId" clId="{3220E06B-B7C6-4553-B7A0-C7A9BDCF1FB0}" dt="2026-02-16T05:45:49.449" v="23"/>
          <ac:spMkLst>
            <pc:docMk/>
            <pc:sldMk cId="0" sldId="256"/>
            <ac:spMk id="23" creationId="{4B214830-A6E6-80CE-2E01-7115FDD59C83}"/>
          </ac:spMkLst>
        </pc:spChg>
        <pc:spChg chg="add mod">
          <ac:chgData name="Anuj Gupta" userId="e5dab055c36b7fd1" providerId="LiveId" clId="{3220E06B-B7C6-4553-B7A0-C7A9BDCF1FB0}" dt="2026-02-16T05:54:16.481" v="62" actId="1076"/>
          <ac:spMkLst>
            <pc:docMk/>
            <pc:sldMk cId="0" sldId="256"/>
            <ac:spMk id="24" creationId="{2AD4B8D9-FC72-4767-971B-BC6C7D36DD5C}"/>
          </ac:spMkLst>
        </pc:spChg>
        <pc:grpChg chg="add del">
          <ac:chgData name="Anuj Gupta" userId="e5dab055c36b7fd1" providerId="LiveId" clId="{3220E06B-B7C6-4553-B7A0-C7A9BDCF1FB0}" dt="2026-02-16T05:46:08.401" v="28" actId="478"/>
          <ac:grpSpMkLst>
            <pc:docMk/>
            <pc:sldMk cId="0" sldId="256"/>
            <ac:grpSpMk id="2" creationId="{00000000-0000-0000-0000-000000000000}"/>
          </ac:grpSpMkLst>
        </pc:grpChg>
        <pc:graphicFrameChg chg="add del modGraphic">
          <ac:chgData name="Anuj Gupta" userId="e5dab055c36b7fd1" providerId="LiveId" clId="{3220E06B-B7C6-4553-B7A0-C7A9BDCF1FB0}" dt="2026-02-16T05:45:43.978" v="22" actId="6549"/>
          <ac:graphicFrameMkLst>
            <pc:docMk/>
            <pc:sldMk cId="0" sldId="256"/>
            <ac:graphicFrameMk id="7" creationId="{00000000-0000-0000-0000-000000000000}"/>
          </ac:graphicFrameMkLst>
        </pc:graphicFrameChg>
        <pc:picChg chg="add del mod">
          <ac:chgData name="Anuj Gupta" userId="e5dab055c36b7fd1" providerId="LiveId" clId="{3220E06B-B7C6-4553-B7A0-C7A9BDCF1FB0}" dt="2026-02-16T05:43:54.004" v="1" actId="21"/>
          <ac:picMkLst>
            <pc:docMk/>
            <pc:sldMk cId="0" sldId="256"/>
            <ac:picMk id="10" creationId="{C0ECC7FC-2C40-4737-556C-CD0B735C2EED}"/>
          </ac:picMkLst>
        </pc:picChg>
        <pc:picChg chg="add mod">
          <ac:chgData name="Anuj Gupta" userId="e5dab055c36b7fd1" providerId="LiveId" clId="{3220E06B-B7C6-4553-B7A0-C7A9BDCF1FB0}" dt="2026-02-16T05:44:14.487" v="10"/>
          <ac:picMkLst>
            <pc:docMk/>
            <pc:sldMk cId="0" sldId="256"/>
            <ac:picMk id="15" creationId="{C0ECC7FC-2C40-4737-556C-CD0B735C2EED}"/>
          </ac:picMkLst>
        </pc:picChg>
        <pc:picChg chg="add mod">
          <ac:chgData name="Anuj Gupta" userId="e5dab055c36b7fd1" providerId="LiveId" clId="{3220E06B-B7C6-4553-B7A0-C7A9BDCF1FB0}" dt="2026-02-16T05:46:33.404" v="33" actId="1076"/>
          <ac:picMkLst>
            <pc:docMk/>
            <pc:sldMk cId="0" sldId="256"/>
            <ac:picMk id="20" creationId="{3886D715-BE17-1589-E244-E223B5B8E63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0" y="-24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1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2550" y="61848"/>
            <a:ext cx="5746135" cy="6009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7874" y="811648"/>
            <a:ext cx="7866380" cy="320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nternationaljournalssrg.org/uploads/specialissuepdf/ICT-2020/2020/OTH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521828"/>
              </p:ext>
            </p:extLst>
          </p:nvPr>
        </p:nvGraphicFramePr>
        <p:xfrm>
          <a:off x="261079" y="2903512"/>
          <a:ext cx="6806564" cy="50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31750">
                        <a:lnSpc>
                          <a:spcPts val="1730"/>
                        </a:lnSpc>
                        <a:tabLst>
                          <a:tab pos="456565" algn="l"/>
                        </a:tabLst>
                      </a:pPr>
                      <a:endParaRPr lang="en-IN"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ts val="1730"/>
                        </a:lnSpc>
                      </a:pPr>
                      <a:endParaRPr lang="en-IN"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ts val="1730"/>
                        </a:lnSpc>
                      </a:pPr>
                      <a:endParaRPr lang="en-IN"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456565">
                        <a:lnSpc>
                          <a:spcPts val="1880"/>
                        </a:lnSpc>
                      </a:pPr>
                      <a:endParaRPr lang="en-IN"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6280">
                        <a:lnSpc>
                          <a:spcPts val="1880"/>
                        </a:lnSpc>
                      </a:pPr>
                      <a:endParaRPr lang="en-IN"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81025">
                        <a:lnSpc>
                          <a:spcPts val="1880"/>
                        </a:lnSpc>
                      </a:pPr>
                      <a:endParaRPr lang="en-IN"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object 2">
            <a:extLst>
              <a:ext uri="{FF2B5EF4-FFF2-40B4-BE49-F238E27FC236}">
                <a16:creationId xmlns:a16="http://schemas.microsoft.com/office/drawing/2014/main" id="{D35883D5-2745-21D8-2790-9018504DC3BA}"/>
              </a:ext>
            </a:extLst>
          </p:cNvPr>
          <p:cNvSpPr/>
          <p:nvPr/>
        </p:nvSpPr>
        <p:spPr>
          <a:xfrm>
            <a:off x="397175" y="3199575"/>
            <a:ext cx="937894" cy="777240"/>
          </a:xfrm>
          <a:custGeom>
            <a:avLst/>
            <a:gdLst/>
            <a:ahLst/>
            <a:cxnLst/>
            <a:rect l="l" t="t" r="r" b="b"/>
            <a:pathLst>
              <a:path w="937894" h="777239">
                <a:moveTo>
                  <a:pt x="0" y="0"/>
                </a:moveTo>
                <a:lnTo>
                  <a:pt x="937499" y="0"/>
                </a:lnTo>
                <a:lnTo>
                  <a:pt x="937499" y="776999"/>
                </a:lnTo>
                <a:lnTo>
                  <a:pt x="0" y="776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886D715-BE17-1589-E244-E223B5B8E6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23" y="0"/>
            <a:ext cx="9144000" cy="5143500"/>
          </a:xfrm>
          <a:prstGeom prst="rect">
            <a:avLst/>
          </a:prstGeom>
        </p:spPr>
      </p:pic>
      <p:sp>
        <p:nvSpPr>
          <p:cNvPr id="21" name="object 3">
            <a:extLst>
              <a:ext uri="{FF2B5EF4-FFF2-40B4-BE49-F238E27FC236}">
                <a16:creationId xmlns:a16="http://schemas.microsoft.com/office/drawing/2014/main" id="{8BB44A3B-655E-BC26-81FA-CE2E03BAFD3F}"/>
              </a:ext>
            </a:extLst>
          </p:cNvPr>
          <p:cNvSpPr txBox="1">
            <a:spLocks/>
          </p:cNvSpPr>
          <p:nvPr/>
        </p:nvSpPr>
        <p:spPr>
          <a:xfrm>
            <a:off x="186449" y="168976"/>
            <a:ext cx="8991599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b="1">
                <a:latin typeface="Aptos" panose="020B0004020202020204" pitchFamily="34" charset="0"/>
              </a:rPr>
              <a:t>“High Performance Carry Save Adder </a:t>
            </a:r>
            <a:br>
              <a:rPr lang="en-US" sz="3200" b="1">
                <a:latin typeface="Aptos" panose="020B0004020202020204" pitchFamily="34" charset="0"/>
              </a:rPr>
            </a:br>
            <a:r>
              <a:rPr lang="en-US" sz="3200" b="1">
                <a:latin typeface="Aptos" panose="020B0004020202020204" pitchFamily="34" charset="0"/>
              </a:rPr>
              <a:t>Design : Based on Parallel Addition Technique”</a:t>
            </a:r>
            <a:endParaRPr lang="en-US" sz="3200" b="1" dirty="0">
              <a:latin typeface="Aptos" panose="020B0004020202020204" pitchFamily="34" charset="0"/>
              <a:cs typeface="Arial"/>
            </a:endParaRPr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543E383E-40F7-4716-44BD-9ACFC03B7DEB}"/>
              </a:ext>
            </a:extLst>
          </p:cNvPr>
          <p:cNvSpPr txBox="1"/>
          <p:nvPr/>
        </p:nvSpPr>
        <p:spPr>
          <a:xfrm>
            <a:off x="533400" y="4248150"/>
            <a:ext cx="880515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Roll no.’s :         230102059	                230102064	          230102065</a:t>
            </a:r>
          </a:p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Names :	          Aditya Sharma               Anuj Gupta	          Piyush Prasad</a:t>
            </a: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214830-A6E6-80CE-2E01-7115FDD59C83}"/>
              </a:ext>
            </a:extLst>
          </p:cNvPr>
          <p:cNvSpPr txBox="1"/>
          <p:nvPr/>
        </p:nvSpPr>
        <p:spPr>
          <a:xfrm>
            <a:off x="457200" y="3867214"/>
            <a:ext cx="1275044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" panose="020B0004020202020204" pitchFamily="34" charset="0"/>
              </a:rPr>
              <a:t>Group - 5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D4B8D9-FC72-4767-971B-BC6C7D36DD5C}"/>
              </a:ext>
            </a:extLst>
          </p:cNvPr>
          <p:cNvSpPr txBox="1"/>
          <p:nvPr/>
        </p:nvSpPr>
        <p:spPr>
          <a:xfrm>
            <a:off x="7029914" y="0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Date – 19</a:t>
            </a:r>
            <a:r>
              <a:rPr lang="en-IN" b="1" baseline="30000" dirty="0">
                <a:solidFill>
                  <a:schemeClr val="bg1"/>
                </a:solidFill>
                <a:latin typeface="Aptos" panose="020B0004020202020204" pitchFamily="34" charset="0"/>
              </a:rPr>
              <a:t>th</a:t>
            </a:r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 Jan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772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100"/>
              </a:spcBef>
            </a:pPr>
            <a:r>
              <a:rPr sz="2700" spc="145" dirty="0">
                <a:solidFill>
                  <a:srgbClr val="FFFAF0"/>
                </a:solidFill>
              </a:rPr>
              <a:t>0.1</a:t>
            </a:r>
            <a:r>
              <a:rPr sz="2700" spc="150" dirty="0">
                <a:solidFill>
                  <a:srgbClr val="FFFAF0"/>
                </a:solidFill>
              </a:rPr>
              <a:t> </a:t>
            </a:r>
            <a:r>
              <a:rPr sz="2700" spc="100" dirty="0">
                <a:solidFill>
                  <a:srgbClr val="FFFAF0"/>
                </a:solidFill>
              </a:rPr>
              <a:t>Abstract</a:t>
            </a:r>
            <a:endParaRPr sz="27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Title</a:t>
            </a:r>
            <a:r>
              <a:rPr spc="-100" dirty="0"/>
              <a:t> </a:t>
            </a:r>
            <a:r>
              <a:rPr spc="-10" dirty="0"/>
              <a:t>-</a:t>
            </a:r>
            <a:r>
              <a:rPr spc="-50" dirty="0"/>
              <a:t>:</a:t>
            </a:r>
          </a:p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sz="1600" dirty="0"/>
              <a:t>Design</a:t>
            </a:r>
            <a:r>
              <a:rPr sz="1600" spc="-30" dirty="0"/>
              <a:t> </a:t>
            </a:r>
            <a:r>
              <a:rPr sz="1600" dirty="0"/>
              <a:t>and</a:t>
            </a:r>
            <a:r>
              <a:rPr sz="1600" spc="-25" dirty="0"/>
              <a:t> </a:t>
            </a:r>
            <a:r>
              <a:rPr sz="1600" spc="-10" dirty="0"/>
              <a:t>Implementation</a:t>
            </a:r>
            <a:r>
              <a:rPr sz="1600" spc="-30" dirty="0"/>
              <a:t> </a:t>
            </a:r>
            <a:r>
              <a:rPr sz="1600" dirty="0"/>
              <a:t>of</a:t>
            </a:r>
            <a:r>
              <a:rPr sz="1600" spc="-25" dirty="0"/>
              <a:t> </a:t>
            </a:r>
            <a:r>
              <a:rPr sz="1600" dirty="0"/>
              <a:t>Carry</a:t>
            </a:r>
            <a:r>
              <a:rPr sz="1600" spc="-25" dirty="0"/>
              <a:t> </a:t>
            </a:r>
            <a:r>
              <a:rPr sz="1600" dirty="0"/>
              <a:t>Save</a:t>
            </a:r>
            <a:r>
              <a:rPr sz="1600" spc="-85" dirty="0"/>
              <a:t> </a:t>
            </a:r>
            <a:r>
              <a:rPr sz="1600" spc="-10" dirty="0"/>
              <a:t>Adder</a:t>
            </a:r>
            <a:endParaRPr sz="1600"/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600"/>
          </a:p>
          <a:p>
            <a:pPr marL="22225">
              <a:lnSpc>
                <a:spcPct val="100000"/>
              </a:lnSpc>
              <a:spcBef>
                <a:spcPts val="5"/>
              </a:spcBef>
            </a:pPr>
            <a:r>
              <a:rPr sz="1700" dirty="0"/>
              <a:t>Definition</a:t>
            </a:r>
            <a:r>
              <a:rPr sz="1700" spc="-50" dirty="0"/>
              <a:t> </a:t>
            </a:r>
            <a:r>
              <a:rPr sz="1700" dirty="0"/>
              <a:t>-</a:t>
            </a:r>
            <a:r>
              <a:rPr sz="1700" spc="-50" dirty="0"/>
              <a:t>:</a:t>
            </a:r>
            <a:endParaRPr sz="1700"/>
          </a:p>
          <a:p>
            <a:pPr marL="22225" marR="5080">
              <a:lnSpc>
                <a:spcPct val="114999"/>
              </a:lnSpc>
              <a:spcBef>
                <a:spcPts val="1240"/>
              </a:spcBef>
            </a:pPr>
            <a:r>
              <a:rPr sz="1500" b="0" dirty="0">
                <a:latin typeface="Arial MT"/>
                <a:cs typeface="Arial MT"/>
              </a:rPr>
              <a:t>A</a:t>
            </a:r>
            <a:r>
              <a:rPr sz="1500" b="0" spc="-105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Carry</a:t>
            </a:r>
            <a:r>
              <a:rPr sz="1500" b="0" spc="-70" dirty="0">
                <a:latin typeface="Arial MT"/>
                <a:cs typeface="Arial MT"/>
              </a:rPr>
              <a:t> </a:t>
            </a:r>
            <a:r>
              <a:rPr sz="1500" b="0" spc="-20" dirty="0">
                <a:latin typeface="Arial MT"/>
                <a:cs typeface="Arial MT"/>
              </a:rPr>
              <a:t>Save</a:t>
            </a:r>
            <a:r>
              <a:rPr sz="1500" b="0" spc="-85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Adder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(CSA)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is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a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spc="-20" dirty="0">
                <a:latin typeface="Arial MT"/>
                <a:cs typeface="Arial MT"/>
              </a:rPr>
              <a:t>high-</a:t>
            </a:r>
            <a:r>
              <a:rPr sz="1500" b="0" dirty="0">
                <a:latin typeface="Arial MT"/>
                <a:cs typeface="Arial MT"/>
              </a:rPr>
              <a:t>speed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arithmetic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circuit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used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to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add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three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or</a:t>
            </a:r>
            <a:r>
              <a:rPr sz="1500" b="0" spc="-30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more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spc="-10" dirty="0">
                <a:latin typeface="Arial MT"/>
                <a:cs typeface="Arial MT"/>
              </a:rPr>
              <a:t>binary </a:t>
            </a:r>
            <a:r>
              <a:rPr sz="1500" b="0" dirty="0">
                <a:latin typeface="Arial MT"/>
                <a:cs typeface="Arial MT"/>
              </a:rPr>
              <a:t>numbers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spc="-10" dirty="0">
                <a:latin typeface="Arial MT"/>
                <a:cs typeface="Arial MT"/>
              </a:rPr>
              <a:t>simultaneously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by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saving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carry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bits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instead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of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spc="-10" dirty="0">
                <a:latin typeface="Arial MT"/>
                <a:cs typeface="Arial MT"/>
              </a:rPr>
              <a:t>propagating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dirty="0">
                <a:latin typeface="Arial MT"/>
                <a:cs typeface="Arial MT"/>
              </a:rPr>
              <a:t>them</a:t>
            </a:r>
            <a:r>
              <a:rPr sz="1500" b="0" spc="-35" dirty="0">
                <a:latin typeface="Arial MT"/>
                <a:cs typeface="Arial MT"/>
              </a:rPr>
              <a:t> </a:t>
            </a:r>
            <a:r>
              <a:rPr sz="1500" b="0" spc="-10" dirty="0">
                <a:latin typeface="Arial MT"/>
                <a:cs typeface="Arial MT"/>
              </a:rPr>
              <a:t>immediately</a:t>
            </a:r>
            <a:r>
              <a:rPr sz="1100" b="0" spc="-10" dirty="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500">
              <a:latin typeface="Arial MT"/>
              <a:cs typeface="Arial MT"/>
            </a:endParaRPr>
          </a:p>
          <a:p>
            <a:pPr marL="22225">
              <a:lnSpc>
                <a:spcPct val="100000"/>
              </a:lnSpc>
            </a:pPr>
            <a:r>
              <a:rPr sz="1700" dirty="0"/>
              <a:t>Working</a:t>
            </a:r>
            <a:r>
              <a:rPr sz="1700" spc="-120" dirty="0"/>
              <a:t> </a:t>
            </a:r>
            <a:r>
              <a:rPr sz="1700" dirty="0"/>
              <a:t>Principle</a:t>
            </a:r>
            <a:r>
              <a:rPr sz="1700" spc="-114" dirty="0"/>
              <a:t> </a:t>
            </a:r>
            <a:r>
              <a:rPr sz="1700" dirty="0"/>
              <a:t>-</a:t>
            </a:r>
            <a:r>
              <a:rPr sz="1700" spc="-50" dirty="0"/>
              <a:t>:</a:t>
            </a:r>
            <a:endParaRPr sz="1700"/>
          </a:p>
          <a:p>
            <a:pPr marL="479425" indent="-351155">
              <a:lnSpc>
                <a:spcPct val="100000"/>
              </a:lnSpc>
              <a:spcBef>
                <a:spcPts val="1510"/>
              </a:spcBef>
              <a:buChar char="●"/>
              <a:tabLst>
                <a:tab pos="479425" algn="l"/>
              </a:tabLst>
            </a:pPr>
            <a:r>
              <a:rPr sz="1600" b="0" dirty="0">
                <a:latin typeface="Arial MT"/>
                <a:cs typeface="Arial MT"/>
              </a:rPr>
              <a:t>CSA</a:t>
            </a:r>
            <a:r>
              <a:rPr sz="1600" b="0" spc="-114" dirty="0">
                <a:latin typeface="Arial MT"/>
                <a:cs typeface="Arial MT"/>
              </a:rPr>
              <a:t> </a:t>
            </a:r>
            <a:r>
              <a:rPr sz="1600" b="0" dirty="0">
                <a:latin typeface="Arial MT"/>
                <a:cs typeface="Arial MT"/>
              </a:rPr>
              <a:t>performs</a:t>
            </a:r>
            <a:r>
              <a:rPr sz="1600" b="0" spc="-35" dirty="0">
                <a:latin typeface="Arial MT"/>
                <a:cs typeface="Arial MT"/>
              </a:rPr>
              <a:t> </a:t>
            </a:r>
            <a:r>
              <a:rPr sz="1600" b="0" dirty="0">
                <a:latin typeface="Arial MT"/>
                <a:cs typeface="Arial MT"/>
              </a:rPr>
              <a:t>bitwise</a:t>
            </a:r>
            <a:r>
              <a:rPr sz="1600" b="0" spc="-35" dirty="0">
                <a:latin typeface="Arial MT"/>
                <a:cs typeface="Arial MT"/>
              </a:rPr>
              <a:t> </a:t>
            </a:r>
            <a:r>
              <a:rPr sz="1600" b="0" dirty="0">
                <a:latin typeface="Arial MT"/>
                <a:cs typeface="Arial MT"/>
              </a:rPr>
              <a:t>addition</a:t>
            </a:r>
            <a:r>
              <a:rPr sz="1600" b="0" spc="-30" dirty="0">
                <a:latin typeface="Arial MT"/>
                <a:cs typeface="Arial MT"/>
              </a:rPr>
              <a:t> </a:t>
            </a:r>
            <a:r>
              <a:rPr sz="1600" b="0" dirty="0">
                <a:latin typeface="Arial MT"/>
                <a:cs typeface="Arial MT"/>
              </a:rPr>
              <a:t>using</a:t>
            </a:r>
            <a:r>
              <a:rPr sz="1600" b="0" spc="-35" dirty="0">
                <a:latin typeface="Arial MT"/>
                <a:cs typeface="Arial MT"/>
              </a:rPr>
              <a:t> </a:t>
            </a:r>
            <a:r>
              <a:rPr sz="1600" b="0" dirty="0">
                <a:latin typeface="Arial MT"/>
                <a:cs typeface="Arial MT"/>
              </a:rPr>
              <a:t>full</a:t>
            </a:r>
            <a:r>
              <a:rPr sz="1600" b="0" spc="-30" dirty="0">
                <a:latin typeface="Arial MT"/>
                <a:cs typeface="Arial MT"/>
              </a:rPr>
              <a:t> </a:t>
            </a:r>
            <a:r>
              <a:rPr sz="1600" b="0" dirty="0">
                <a:latin typeface="Arial MT"/>
                <a:cs typeface="Arial MT"/>
              </a:rPr>
              <a:t>adders</a:t>
            </a:r>
            <a:r>
              <a:rPr sz="1600" b="0" spc="-30" dirty="0">
                <a:latin typeface="Arial MT"/>
                <a:cs typeface="Arial MT"/>
              </a:rPr>
              <a:t> </a:t>
            </a:r>
            <a:r>
              <a:rPr sz="1600" b="0" dirty="0">
                <a:latin typeface="Arial MT"/>
                <a:cs typeface="Arial MT"/>
              </a:rPr>
              <a:t>without</a:t>
            </a:r>
            <a:r>
              <a:rPr sz="1600" b="0" spc="-35" dirty="0">
                <a:latin typeface="Arial MT"/>
                <a:cs typeface="Arial MT"/>
              </a:rPr>
              <a:t> </a:t>
            </a:r>
            <a:r>
              <a:rPr sz="1600" b="0" dirty="0">
                <a:latin typeface="Arial MT"/>
                <a:cs typeface="Arial MT"/>
              </a:rPr>
              <a:t>carry</a:t>
            </a:r>
            <a:r>
              <a:rPr sz="1600" b="0" spc="-30" dirty="0">
                <a:latin typeface="Arial MT"/>
                <a:cs typeface="Arial MT"/>
              </a:rPr>
              <a:t> </a:t>
            </a:r>
            <a:r>
              <a:rPr sz="1600" b="0" spc="-10" dirty="0">
                <a:latin typeface="Arial MT"/>
                <a:cs typeface="Arial MT"/>
              </a:rPr>
              <a:t>propagation.</a:t>
            </a:r>
            <a:endParaRPr sz="1600">
              <a:latin typeface="Arial MT"/>
              <a:cs typeface="Arial MT"/>
            </a:endParaRPr>
          </a:p>
          <a:p>
            <a:pPr marL="47942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479425" algn="l"/>
              </a:tabLst>
            </a:pPr>
            <a:r>
              <a:rPr sz="1600" b="0" dirty="0">
                <a:latin typeface="Arial MT"/>
                <a:cs typeface="Arial MT"/>
              </a:rPr>
              <a:t>Carry</a:t>
            </a:r>
            <a:r>
              <a:rPr sz="1600" b="0" spc="-25" dirty="0">
                <a:latin typeface="Arial MT"/>
                <a:cs typeface="Arial MT"/>
              </a:rPr>
              <a:t> </a:t>
            </a:r>
            <a:r>
              <a:rPr sz="1600" b="0" dirty="0">
                <a:latin typeface="Arial MT"/>
                <a:cs typeface="Arial MT"/>
              </a:rPr>
              <a:t>bits</a:t>
            </a:r>
            <a:r>
              <a:rPr sz="1600" b="0" spc="-25" dirty="0">
                <a:latin typeface="Arial MT"/>
                <a:cs typeface="Arial MT"/>
              </a:rPr>
              <a:t> </a:t>
            </a:r>
            <a:r>
              <a:rPr sz="1600" b="0" dirty="0">
                <a:latin typeface="Arial MT"/>
                <a:cs typeface="Arial MT"/>
              </a:rPr>
              <a:t>are</a:t>
            </a:r>
            <a:r>
              <a:rPr sz="1600" b="0" spc="-25" dirty="0">
                <a:latin typeface="Arial MT"/>
                <a:cs typeface="Arial MT"/>
              </a:rPr>
              <a:t> </a:t>
            </a:r>
            <a:r>
              <a:rPr sz="1600" b="0" dirty="0">
                <a:latin typeface="Arial MT"/>
                <a:cs typeface="Arial MT"/>
              </a:rPr>
              <a:t>stored</a:t>
            </a:r>
            <a:r>
              <a:rPr sz="1600" b="0" spc="-20" dirty="0">
                <a:latin typeface="Arial MT"/>
                <a:cs typeface="Arial MT"/>
              </a:rPr>
              <a:t> </a:t>
            </a:r>
            <a:r>
              <a:rPr sz="1600" b="0" dirty="0">
                <a:latin typeface="Arial MT"/>
                <a:cs typeface="Arial MT"/>
              </a:rPr>
              <a:t>separately</a:t>
            </a:r>
            <a:r>
              <a:rPr sz="1600" b="0" spc="-25" dirty="0">
                <a:latin typeface="Arial MT"/>
                <a:cs typeface="Arial MT"/>
              </a:rPr>
              <a:t> </a:t>
            </a:r>
            <a:r>
              <a:rPr sz="1600" b="0" dirty="0">
                <a:latin typeface="Arial MT"/>
                <a:cs typeface="Arial MT"/>
              </a:rPr>
              <a:t>and</a:t>
            </a:r>
            <a:r>
              <a:rPr sz="1600" b="0" spc="-25" dirty="0">
                <a:latin typeface="Arial MT"/>
                <a:cs typeface="Arial MT"/>
              </a:rPr>
              <a:t> </a:t>
            </a:r>
            <a:r>
              <a:rPr sz="1600" b="0" dirty="0">
                <a:latin typeface="Arial MT"/>
                <a:cs typeface="Arial MT"/>
              </a:rPr>
              <a:t>combined</a:t>
            </a:r>
            <a:r>
              <a:rPr sz="1600" b="0" spc="-20" dirty="0">
                <a:latin typeface="Arial MT"/>
                <a:cs typeface="Arial MT"/>
              </a:rPr>
              <a:t> </a:t>
            </a:r>
            <a:r>
              <a:rPr sz="1600" b="0" dirty="0">
                <a:latin typeface="Arial MT"/>
                <a:cs typeface="Arial MT"/>
              </a:rPr>
              <a:t>later</a:t>
            </a:r>
            <a:r>
              <a:rPr sz="1600" b="0" spc="-25" dirty="0">
                <a:latin typeface="Arial MT"/>
                <a:cs typeface="Arial MT"/>
              </a:rPr>
              <a:t> </a:t>
            </a:r>
            <a:r>
              <a:rPr sz="1600" b="0" dirty="0">
                <a:latin typeface="Arial MT"/>
                <a:cs typeface="Arial MT"/>
              </a:rPr>
              <a:t>using</a:t>
            </a:r>
            <a:r>
              <a:rPr sz="1600" b="0" spc="-25" dirty="0">
                <a:latin typeface="Arial MT"/>
                <a:cs typeface="Arial MT"/>
              </a:rPr>
              <a:t> </a:t>
            </a:r>
            <a:r>
              <a:rPr sz="1600" b="0" dirty="0">
                <a:latin typeface="Arial MT"/>
                <a:cs typeface="Arial MT"/>
              </a:rPr>
              <a:t>a</a:t>
            </a:r>
            <a:r>
              <a:rPr sz="1600" b="0" spc="-25" dirty="0">
                <a:latin typeface="Arial MT"/>
                <a:cs typeface="Arial MT"/>
              </a:rPr>
              <a:t> </a:t>
            </a:r>
            <a:r>
              <a:rPr sz="1600" b="0" dirty="0">
                <a:latin typeface="Arial MT"/>
                <a:cs typeface="Arial MT"/>
              </a:rPr>
              <a:t>final</a:t>
            </a:r>
            <a:r>
              <a:rPr sz="1600" b="0" spc="-20" dirty="0">
                <a:latin typeface="Arial MT"/>
                <a:cs typeface="Arial MT"/>
              </a:rPr>
              <a:t> </a:t>
            </a:r>
            <a:r>
              <a:rPr sz="1600" b="0" spc="-10" dirty="0">
                <a:latin typeface="Arial MT"/>
                <a:cs typeface="Arial MT"/>
              </a:rPr>
              <a:t>adder.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807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00"/>
              </a:spcBef>
            </a:pPr>
            <a:r>
              <a:rPr sz="2100" spc="120" dirty="0"/>
              <a:t>Half </a:t>
            </a:r>
            <a:r>
              <a:rPr sz="2100" spc="80" dirty="0"/>
              <a:t>Adder</a:t>
            </a:r>
            <a:r>
              <a:rPr sz="2100" spc="120" dirty="0"/>
              <a:t> </a:t>
            </a:r>
            <a:r>
              <a:rPr sz="2100" spc="80" dirty="0"/>
              <a:t>-</a:t>
            </a:r>
            <a:r>
              <a:rPr sz="2100" spc="20" dirty="0"/>
              <a:t>:</a:t>
            </a:r>
            <a:endParaRPr sz="2100"/>
          </a:p>
        </p:txBody>
      </p:sp>
      <p:grpSp>
        <p:nvGrpSpPr>
          <p:cNvPr id="3" name="object 3"/>
          <p:cNvGrpSpPr/>
          <p:nvPr/>
        </p:nvGrpSpPr>
        <p:grpSpPr>
          <a:xfrm>
            <a:off x="261075" y="650575"/>
            <a:ext cx="4076065" cy="1816735"/>
            <a:chOff x="261075" y="650575"/>
            <a:chExt cx="4076065" cy="18167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075" y="650575"/>
              <a:ext cx="3552749" cy="1816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13824" y="1281274"/>
              <a:ext cx="518159" cy="555625"/>
            </a:xfrm>
            <a:custGeom>
              <a:avLst/>
              <a:gdLst/>
              <a:ahLst/>
              <a:cxnLst/>
              <a:rect l="l" t="t" r="r" b="b"/>
              <a:pathLst>
                <a:path w="518160" h="555625">
                  <a:moveTo>
                    <a:pt x="259049" y="554999"/>
                  </a:moveTo>
                  <a:lnTo>
                    <a:pt x="259049" y="416249"/>
                  </a:lnTo>
                  <a:lnTo>
                    <a:pt x="0" y="416249"/>
                  </a:lnTo>
                  <a:lnTo>
                    <a:pt x="0" y="138749"/>
                  </a:lnTo>
                  <a:lnTo>
                    <a:pt x="259049" y="138749"/>
                  </a:lnTo>
                  <a:lnTo>
                    <a:pt x="259049" y="0"/>
                  </a:lnTo>
                  <a:lnTo>
                    <a:pt x="518099" y="277499"/>
                  </a:lnTo>
                  <a:lnTo>
                    <a:pt x="259049" y="554999"/>
                  </a:lnTo>
                  <a:close/>
                </a:path>
              </a:pathLst>
            </a:custGeom>
            <a:solidFill>
              <a:srgbClr val="26A6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13824" y="1281274"/>
              <a:ext cx="518159" cy="555625"/>
            </a:xfrm>
            <a:custGeom>
              <a:avLst/>
              <a:gdLst/>
              <a:ahLst/>
              <a:cxnLst/>
              <a:rect l="l" t="t" r="r" b="b"/>
              <a:pathLst>
                <a:path w="518160" h="555625">
                  <a:moveTo>
                    <a:pt x="0" y="138749"/>
                  </a:moveTo>
                  <a:lnTo>
                    <a:pt x="259049" y="138749"/>
                  </a:lnTo>
                  <a:lnTo>
                    <a:pt x="259049" y="0"/>
                  </a:lnTo>
                  <a:lnTo>
                    <a:pt x="518099" y="277499"/>
                  </a:lnTo>
                  <a:lnTo>
                    <a:pt x="259049" y="554999"/>
                  </a:lnTo>
                  <a:lnTo>
                    <a:pt x="259049" y="416249"/>
                  </a:lnTo>
                  <a:lnTo>
                    <a:pt x="0" y="416249"/>
                  </a:lnTo>
                  <a:lnTo>
                    <a:pt x="0" y="138749"/>
                  </a:lnTo>
                  <a:close/>
                </a:path>
              </a:pathLst>
            </a:custGeom>
            <a:ln w="9524">
              <a:solidFill>
                <a:srgbClr val="0068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809062" y="2935575"/>
            <a:ext cx="5209540" cy="1990089"/>
            <a:chOff x="3809062" y="2935575"/>
            <a:chExt cx="5209540" cy="199008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31925" y="2935575"/>
              <a:ext cx="4686674" cy="19896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813824" y="3531965"/>
              <a:ext cx="518159" cy="555625"/>
            </a:xfrm>
            <a:custGeom>
              <a:avLst/>
              <a:gdLst/>
              <a:ahLst/>
              <a:cxnLst/>
              <a:rect l="l" t="t" r="r" b="b"/>
              <a:pathLst>
                <a:path w="518160" h="555625">
                  <a:moveTo>
                    <a:pt x="259049" y="554999"/>
                  </a:moveTo>
                  <a:lnTo>
                    <a:pt x="0" y="277499"/>
                  </a:lnTo>
                  <a:lnTo>
                    <a:pt x="259049" y="0"/>
                  </a:lnTo>
                  <a:lnTo>
                    <a:pt x="259049" y="138749"/>
                  </a:lnTo>
                  <a:lnTo>
                    <a:pt x="518099" y="138749"/>
                  </a:lnTo>
                  <a:lnTo>
                    <a:pt x="518099" y="416249"/>
                  </a:lnTo>
                  <a:lnTo>
                    <a:pt x="259049" y="416249"/>
                  </a:lnTo>
                  <a:lnTo>
                    <a:pt x="259049" y="554999"/>
                  </a:lnTo>
                  <a:close/>
                </a:path>
              </a:pathLst>
            </a:custGeom>
            <a:solidFill>
              <a:srgbClr val="26A6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13824" y="3531965"/>
              <a:ext cx="518159" cy="555625"/>
            </a:xfrm>
            <a:custGeom>
              <a:avLst/>
              <a:gdLst/>
              <a:ahLst/>
              <a:cxnLst/>
              <a:rect l="l" t="t" r="r" b="b"/>
              <a:pathLst>
                <a:path w="518160" h="555625">
                  <a:moveTo>
                    <a:pt x="0" y="277499"/>
                  </a:moveTo>
                  <a:lnTo>
                    <a:pt x="259049" y="0"/>
                  </a:lnTo>
                  <a:lnTo>
                    <a:pt x="259049" y="138749"/>
                  </a:lnTo>
                  <a:lnTo>
                    <a:pt x="518099" y="138749"/>
                  </a:lnTo>
                  <a:lnTo>
                    <a:pt x="518099" y="416249"/>
                  </a:lnTo>
                  <a:lnTo>
                    <a:pt x="259049" y="416249"/>
                  </a:lnTo>
                  <a:lnTo>
                    <a:pt x="259049" y="554999"/>
                  </a:lnTo>
                  <a:lnTo>
                    <a:pt x="0" y="277499"/>
                  </a:lnTo>
                  <a:close/>
                </a:path>
              </a:pathLst>
            </a:custGeom>
            <a:ln w="9524">
              <a:solidFill>
                <a:srgbClr val="0068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19701" y="2529332"/>
            <a:ext cx="15290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0" dirty="0">
                <a:solidFill>
                  <a:srgbClr val="FFFFFF"/>
                </a:solidFill>
                <a:latin typeface="Calibri"/>
                <a:cs typeface="Calibri"/>
              </a:rPr>
              <a:t>Full</a:t>
            </a:r>
            <a:r>
              <a:rPr sz="210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80" dirty="0">
                <a:solidFill>
                  <a:srgbClr val="FFFFFF"/>
                </a:solidFill>
                <a:latin typeface="Calibri"/>
                <a:cs typeface="Calibri"/>
              </a:rPr>
              <a:t>Adder</a:t>
            </a:r>
            <a:r>
              <a:rPr sz="210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8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100" spc="2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7762" y="3441612"/>
            <a:ext cx="1243330" cy="256540"/>
            <a:chOff x="367762" y="3441612"/>
            <a:chExt cx="1243330" cy="256540"/>
          </a:xfrm>
        </p:grpSpPr>
        <p:sp>
          <p:nvSpPr>
            <p:cNvPr id="13" name="object 13"/>
            <p:cNvSpPr/>
            <p:nvPr/>
          </p:nvSpPr>
          <p:spPr>
            <a:xfrm>
              <a:off x="372525" y="3446374"/>
              <a:ext cx="1233805" cy="247015"/>
            </a:xfrm>
            <a:custGeom>
              <a:avLst/>
              <a:gdLst/>
              <a:ahLst/>
              <a:cxnLst/>
              <a:rect l="l" t="t" r="r" b="b"/>
              <a:pathLst>
                <a:path w="1233805" h="247014">
                  <a:moveTo>
                    <a:pt x="1192499" y="246599"/>
                  </a:moveTo>
                  <a:lnTo>
                    <a:pt x="41100" y="246599"/>
                  </a:lnTo>
                  <a:lnTo>
                    <a:pt x="25102" y="243370"/>
                  </a:lnTo>
                  <a:lnTo>
                    <a:pt x="12038" y="234561"/>
                  </a:lnTo>
                  <a:lnTo>
                    <a:pt x="3229" y="221497"/>
                  </a:lnTo>
                  <a:lnTo>
                    <a:pt x="0" y="205499"/>
                  </a:lnTo>
                  <a:lnTo>
                    <a:pt x="0" y="41100"/>
                  </a:lnTo>
                  <a:lnTo>
                    <a:pt x="3175" y="25372"/>
                  </a:lnTo>
                  <a:lnTo>
                    <a:pt x="3229" y="25102"/>
                  </a:lnTo>
                  <a:lnTo>
                    <a:pt x="12038" y="12038"/>
                  </a:lnTo>
                  <a:lnTo>
                    <a:pt x="25252" y="3128"/>
                  </a:lnTo>
                  <a:lnTo>
                    <a:pt x="25604" y="3128"/>
                  </a:lnTo>
                  <a:lnTo>
                    <a:pt x="41100" y="0"/>
                  </a:lnTo>
                  <a:lnTo>
                    <a:pt x="1192499" y="0"/>
                  </a:lnTo>
                  <a:lnTo>
                    <a:pt x="1200555" y="797"/>
                  </a:lnTo>
                  <a:lnTo>
                    <a:pt x="1230471" y="25372"/>
                  </a:lnTo>
                  <a:lnTo>
                    <a:pt x="1233599" y="41100"/>
                  </a:lnTo>
                  <a:lnTo>
                    <a:pt x="1233599" y="205499"/>
                  </a:lnTo>
                  <a:lnTo>
                    <a:pt x="1230370" y="221497"/>
                  </a:lnTo>
                  <a:lnTo>
                    <a:pt x="1221561" y="234561"/>
                  </a:lnTo>
                  <a:lnTo>
                    <a:pt x="1208497" y="243370"/>
                  </a:lnTo>
                  <a:lnTo>
                    <a:pt x="1192499" y="2465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2525" y="3446374"/>
              <a:ext cx="1233805" cy="247015"/>
            </a:xfrm>
            <a:custGeom>
              <a:avLst/>
              <a:gdLst/>
              <a:ahLst/>
              <a:cxnLst/>
              <a:rect l="l" t="t" r="r" b="b"/>
              <a:pathLst>
                <a:path w="1233805" h="247014">
                  <a:moveTo>
                    <a:pt x="0" y="41100"/>
                  </a:moveTo>
                  <a:lnTo>
                    <a:pt x="3229" y="25102"/>
                  </a:lnTo>
                  <a:lnTo>
                    <a:pt x="12038" y="12038"/>
                  </a:lnTo>
                  <a:lnTo>
                    <a:pt x="25102" y="3229"/>
                  </a:lnTo>
                  <a:lnTo>
                    <a:pt x="41100" y="0"/>
                  </a:lnTo>
                  <a:lnTo>
                    <a:pt x="1192499" y="0"/>
                  </a:lnTo>
                  <a:lnTo>
                    <a:pt x="1226694" y="18298"/>
                  </a:lnTo>
                  <a:lnTo>
                    <a:pt x="1233599" y="41100"/>
                  </a:lnTo>
                  <a:lnTo>
                    <a:pt x="1233599" y="205499"/>
                  </a:lnTo>
                  <a:lnTo>
                    <a:pt x="1230370" y="221497"/>
                  </a:lnTo>
                  <a:lnTo>
                    <a:pt x="1221561" y="234561"/>
                  </a:lnTo>
                  <a:lnTo>
                    <a:pt x="1208497" y="243370"/>
                  </a:lnTo>
                  <a:lnTo>
                    <a:pt x="1192499" y="246599"/>
                  </a:lnTo>
                  <a:lnTo>
                    <a:pt x="41100" y="246599"/>
                  </a:lnTo>
                  <a:lnTo>
                    <a:pt x="25102" y="243370"/>
                  </a:lnTo>
                  <a:lnTo>
                    <a:pt x="12038" y="234561"/>
                  </a:lnTo>
                  <a:lnTo>
                    <a:pt x="3229" y="221497"/>
                  </a:lnTo>
                  <a:lnTo>
                    <a:pt x="0" y="205499"/>
                  </a:lnTo>
                  <a:lnTo>
                    <a:pt x="0" y="4110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524559" y="714969"/>
            <a:ext cx="3051810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Half</a:t>
            </a:r>
            <a:r>
              <a:rPr sz="17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Adder</a:t>
            </a: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(HA)</a:t>
            </a: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→</a:t>
            </a:r>
            <a:r>
              <a:rPr sz="17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adds</a:t>
            </a:r>
            <a:r>
              <a:rPr sz="17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7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20" dirty="0">
                <a:solidFill>
                  <a:srgbClr val="FFFFFF"/>
                </a:solidFill>
                <a:latin typeface="Arial"/>
                <a:cs typeface="Arial"/>
              </a:rPr>
              <a:t>bits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700" dirty="0">
              <a:latin typeface="Arial"/>
              <a:cs typeface="Arial"/>
            </a:endParaRPr>
          </a:p>
          <a:p>
            <a:pPr marL="12700" marR="1858010">
              <a:lnSpc>
                <a:spcPct val="100000"/>
              </a:lnSpc>
            </a:pP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Sum</a:t>
            </a:r>
            <a:r>
              <a:rPr sz="17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7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700" spc="-25" dirty="0">
                <a:solidFill>
                  <a:srgbClr val="FFFFFF"/>
                </a:solidFill>
                <a:latin typeface="MS PGothic"/>
                <a:cs typeface="MS PGothic"/>
              </a:rPr>
              <a:t>⊕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B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Carry</a:t>
            </a:r>
            <a:r>
              <a:rPr sz="17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7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-25" dirty="0">
                <a:solidFill>
                  <a:srgbClr val="FFFFFF"/>
                </a:solidFill>
                <a:latin typeface="Arial"/>
                <a:cs typeface="Arial"/>
              </a:rPr>
              <a:t>A.B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8425" y="3053290"/>
            <a:ext cx="3156585" cy="122936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469265" indent="-343535">
              <a:lnSpc>
                <a:spcPct val="100000"/>
              </a:lnSpc>
              <a:spcBef>
                <a:spcPts val="370"/>
              </a:spcBef>
              <a:buChar char="●"/>
              <a:tabLst>
                <a:tab pos="469265" algn="l"/>
              </a:tabLst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sz="15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5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500" spc="-10" dirty="0">
                <a:solidFill>
                  <a:srgbClr val="FFFFFF"/>
                </a:solidFill>
                <a:latin typeface="MS PGothic"/>
                <a:cs typeface="MS PGothic"/>
              </a:rPr>
              <a:t>⊕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r>
              <a:rPr sz="1500" spc="-10" dirty="0">
                <a:solidFill>
                  <a:srgbClr val="FFFFFF"/>
                </a:solidFill>
                <a:latin typeface="MS PGothic"/>
                <a:cs typeface="MS PGothic"/>
              </a:rPr>
              <a:t>⊕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endParaRPr sz="1500">
              <a:latin typeface="Arial MT"/>
              <a:cs typeface="Arial MT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</a:tabLst>
            </a:pPr>
            <a:r>
              <a:rPr sz="1500" u="heavy" dirty="0">
                <a:solidFill>
                  <a:srgbClr val="FFFFFF"/>
                </a:solidFill>
                <a:uFill>
                  <a:solidFill>
                    <a:srgbClr val="26A69A"/>
                  </a:solidFill>
                </a:uFill>
                <a:latin typeface="Arial MT"/>
                <a:cs typeface="Arial MT"/>
              </a:rPr>
              <a:t>Carr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c1+c2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=AB+AC+BC</a:t>
            </a:r>
            <a:endParaRPr sz="15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1500" dirty="0">
                <a:solidFill>
                  <a:srgbClr val="FFFFFF"/>
                </a:solidFill>
                <a:latin typeface="MS PGothic"/>
                <a:cs typeface="MS PGothic"/>
              </a:rPr>
              <a:t>✔</a:t>
            </a:r>
            <a:r>
              <a:rPr sz="1500" spc="-75" dirty="0">
                <a:solidFill>
                  <a:srgbClr val="FFFFFF"/>
                </a:solidFill>
                <a:latin typeface="MS PGothic"/>
                <a:cs typeface="MS PGothic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Now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three</a:t>
            </a:r>
            <a:r>
              <a:rPr sz="15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bits</a:t>
            </a:r>
            <a:r>
              <a:rPr sz="15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sz="15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been</a:t>
            </a:r>
            <a:r>
              <a:rPr sz="15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added correctly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9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14" dirty="0"/>
              <a:t>0.2</a:t>
            </a:r>
            <a:r>
              <a:rPr sz="2000" spc="365" dirty="0"/>
              <a:t> </a:t>
            </a:r>
            <a:r>
              <a:rPr sz="2000" dirty="0"/>
              <a:t>Introduction</a:t>
            </a:r>
            <a:r>
              <a:rPr sz="2000" spc="365" dirty="0"/>
              <a:t> </a:t>
            </a:r>
            <a:r>
              <a:rPr sz="2000" spc="75" dirty="0"/>
              <a:t>-</a:t>
            </a:r>
            <a:r>
              <a:rPr sz="2000" spc="15" dirty="0"/>
              <a:t>: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4645025" y="756329"/>
            <a:ext cx="24377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History</a:t>
            </a:r>
            <a:r>
              <a:rPr sz="1500" b="1" spc="-5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and</a:t>
            </a:r>
            <a:r>
              <a:rPr sz="1500" b="1" spc="-5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Current</a:t>
            </a:r>
            <a:r>
              <a:rPr sz="1500" b="1" spc="-5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Needs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3934" y="1142918"/>
            <a:ext cx="3784600" cy="709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marR="5080" indent="-328295">
              <a:lnSpc>
                <a:spcPct val="114999"/>
              </a:lnSpc>
              <a:spcBef>
                <a:spcPts val="100"/>
              </a:spcBef>
              <a:buChar char="●"/>
              <a:tabLst>
                <a:tab pos="340360" algn="l"/>
              </a:tabLst>
            </a:pPr>
            <a:r>
              <a:rPr sz="1300" dirty="0">
                <a:latin typeface="Arial MT"/>
                <a:cs typeface="Arial MT"/>
              </a:rPr>
              <a:t>Early</a:t>
            </a:r>
            <a:r>
              <a:rPr sz="1300" spc="-7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digital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systems</a:t>
            </a:r>
            <a:r>
              <a:rPr sz="1300" spc="-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used</a:t>
            </a:r>
            <a:r>
              <a:rPr sz="1300" spc="-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Ripple</a:t>
            </a:r>
            <a:r>
              <a:rPr sz="1300" spc="-4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Carry</a:t>
            </a:r>
            <a:r>
              <a:rPr sz="1300" spc="-8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Adders (slow).</a:t>
            </a:r>
            <a:endParaRPr sz="1300">
              <a:latin typeface="Arial MT"/>
              <a:cs typeface="Arial MT"/>
            </a:endParaRPr>
          </a:p>
          <a:p>
            <a:pPr marL="340360" indent="-327660">
              <a:lnSpc>
                <a:spcPct val="100000"/>
              </a:lnSpc>
              <a:spcBef>
                <a:spcPts val="229"/>
              </a:spcBef>
              <a:buChar char="●"/>
              <a:tabLst>
                <a:tab pos="340360" algn="l"/>
              </a:tabLst>
            </a:pPr>
            <a:r>
              <a:rPr sz="1300" spc="-10" dirty="0">
                <a:latin typeface="Arial MT"/>
                <a:cs typeface="Arial MT"/>
              </a:rPr>
              <a:t>Increasing</a:t>
            </a:r>
            <a:r>
              <a:rPr sz="1300" spc="-4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demand</a:t>
            </a:r>
            <a:r>
              <a:rPr sz="1300" spc="-45" dirty="0">
                <a:latin typeface="Arial MT"/>
                <a:cs typeface="Arial MT"/>
              </a:rPr>
              <a:t> </a:t>
            </a:r>
            <a:r>
              <a:rPr sz="1300" spc="-20" dirty="0">
                <a:latin typeface="Arial MT"/>
                <a:cs typeface="Arial MT"/>
              </a:rPr>
              <a:t>for: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31134" y="1826432"/>
            <a:ext cx="2197735" cy="709295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334"/>
              </a:spcBef>
              <a:buChar char="○"/>
              <a:tabLst>
                <a:tab pos="340360" algn="l"/>
              </a:tabLst>
            </a:pPr>
            <a:r>
              <a:rPr sz="1300" spc="-20" dirty="0">
                <a:latin typeface="Arial MT"/>
                <a:cs typeface="Arial MT"/>
              </a:rPr>
              <a:t>High-</a:t>
            </a:r>
            <a:r>
              <a:rPr sz="1300" dirty="0">
                <a:latin typeface="Arial MT"/>
                <a:cs typeface="Arial MT"/>
              </a:rPr>
              <a:t>speed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processors</a:t>
            </a:r>
            <a:endParaRPr sz="1300">
              <a:latin typeface="Arial MT"/>
              <a:cs typeface="Arial MT"/>
            </a:endParaRPr>
          </a:p>
          <a:p>
            <a:pPr marL="340360" indent="-327660">
              <a:lnSpc>
                <a:spcPct val="100000"/>
              </a:lnSpc>
              <a:spcBef>
                <a:spcPts val="229"/>
              </a:spcBef>
              <a:buChar char="○"/>
              <a:tabLst>
                <a:tab pos="340360" algn="l"/>
              </a:tabLst>
            </a:pPr>
            <a:r>
              <a:rPr sz="1300" dirty="0">
                <a:latin typeface="Arial MT"/>
                <a:cs typeface="Arial MT"/>
              </a:rPr>
              <a:t>Low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power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consumption</a:t>
            </a:r>
            <a:endParaRPr sz="1300">
              <a:latin typeface="Arial MT"/>
              <a:cs typeface="Arial MT"/>
            </a:endParaRPr>
          </a:p>
          <a:p>
            <a:pPr marL="340360" indent="-327660">
              <a:lnSpc>
                <a:spcPct val="100000"/>
              </a:lnSpc>
              <a:spcBef>
                <a:spcPts val="235"/>
              </a:spcBef>
              <a:buChar char="○"/>
              <a:tabLst>
                <a:tab pos="340360" algn="l"/>
              </a:tabLst>
            </a:pPr>
            <a:r>
              <a:rPr sz="1300" dirty="0">
                <a:latin typeface="Arial MT"/>
                <a:cs typeface="Arial MT"/>
              </a:rPr>
              <a:t>Large</a:t>
            </a:r>
            <a:r>
              <a:rPr sz="1300" spc="-6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bit-</a:t>
            </a:r>
            <a:r>
              <a:rPr sz="1300" dirty="0">
                <a:latin typeface="Arial MT"/>
                <a:cs typeface="Arial MT"/>
              </a:rPr>
              <a:t>width</a:t>
            </a:r>
            <a:r>
              <a:rPr sz="1300" spc="-5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arithmetic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73934" y="2539663"/>
            <a:ext cx="371856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00"/>
              </a:spcBef>
              <a:buChar char="●"/>
              <a:tabLst>
                <a:tab pos="340360" algn="l"/>
              </a:tabLst>
            </a:pPr>
            <a:r>
              <a:rPr sz="1300" dirty="0">
                <a:latin typeface="Arial MT"/>
                <a:cs typeface="Arial MT"/>
              </a:rPr>
              <a:t>CSA</a:t>
            </a:r>
            <a:r>
              <a:rPr sz="1300" spc="-9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introduced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to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overcome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delay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limitations.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18025" y="1170611"/>
            <a:ext cx="7397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Arial"/>
                <a:cs typeface="Arial"/>
              </a:rPr>
              <a:t>Advantage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62351" y="1170611"/>
            <a:ext cx="6921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Arial"/>
                <a:cs typeface="Arial"/>
              </a:rPr>
              <a:t>Limitation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3818" y="1605988"/>
            <a:ext cx="134937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48615" marR="5080" indent="-336550">
              <a:lnSpc>
                <a:spcPts val="1650"/>
              </a:lnSpc>
              <a:spcBef>
                <a:spcPts val="180"/>
              </a:spcBef>
              <a:buChar char="●"/>
              <a:tabLst>
                <a:tab pos="348615" algn="l"/>
              </a:tabLst>
            </a:pPr>
            <a:r>
              <a:rPr sz="1400" dirty="0">
                <a:latin typeface="Arial MT"/>
                <a:cs typeface="Arial MT"/>
              </a:rPr>
              <a:t>Ripple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Carry Adder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18025" y="1605988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Simple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8050" y="1605988"/>
            <a:ext cx="8655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High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delay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3818" y="2310388"/>
            <a:ext cx="1320165" cy="65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ts val="1664"/>
              </a:lnSpc>
              <a:spcBef>
                <a:spcPts val="100"/>
              </a:spcBef>
              <a:buChar char="●"/>
              <a:tabLst>
                <a:tab pos="347980" algn="l"/>
              </a:tabLst>
            </a:pPr>
            <a:r>
              <a:rPr sz="1400" spc="-10" dirty="0">
                <a:latin typeface="Arial MT"/>
                <a:cs typeface="Arial MT"/>
              </a:rPr>
              <a:t>Carry</a:t>
            </a:r>
            <a:endParaRPr sz="1400">
              <a:latin typeface="Arial MT"/>
              <a:cs typeface="Arial MT"/>
            </a:endParaRPr>
          </a:p>
          <a:p>
            <a:pPr marL="348615" marR="5080">
              <a:lnSpc>
                <a:spcPts val="1650"/>
              </a:lnSpc>
              <a:spcBef>
                <a:spcPts val="65"/>
              </a:spcBef>
            </a:pPr>
            <a:r>
              <a:rPr sz="1400" spc="-10" dirty="0">
                <a:latin typeface="Arial MT"/>
                <a:cs typeface="Arial MT"/>
              </a:rPr>
              <a:t>Look-Ahead Adder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18025" y="2310388"/>
            <a:ext cx="3708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 MT"/>
                <a:cs typeface="Arial MT"/>
              </a:rPr>
              <a:t>Fast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18050" y="2310388"/>
            <a:ext cx="7270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Complex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3818" y="3260013"/>
            <a:ext cx="133858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48615" marR="5080" indent="-336550">
              <a:lnSpc>
                <a:spcPts val="1650"/>
              </a:lnSpc>
              <a:spcBef>
                <a:spcPts val="180"/>
              </a:spcBef>
              <a:buChar char="●"/>
              <a:tabLst>
                <a:tab pos="348615" algn="l"/>
              </a:tabLst>
            </a:pPr>
            <a:r>
              <a:rPr sz="1400" dirty="0">
                <a:latin typeface="Arial MT"/>
                <a:cs typeface="Arial MT"/>
              </a:rPr>
              <a:t>Carry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Select Adder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18025" y="3260013"/>
            <a:ext cx="77660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Arial MT"/>
                <a:cs typeface="Arial MT"/>
              </a:rPr>
              <a:t>Moderate speed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18050" y="3260013"/>
            <a:ext cx="8851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Large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area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3818" y="3983288"/>
            <a:ext cx="125095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48615" marR="5080" indent="-336550">
              <a:lnSpc>
                <a:spcPts val="1650"/>
              </a:lnSpc>
              <a:spcBef>
                <a:spcPts val="180"/>
              </a:spcBef>
              <a:buChar char="●"/>
              <a:tabLst>
                <a:tab pos="348615" algn="l"/>
              </a:tabLst>
            </a:pPr>
            <a:r>
              <a:rPr sz="1400" dirty="0">
                <a:latin typeface="Arial MT"/>
                <a:cs typeface="Arial MT"/>
              </a:rPr>
              <a:t>Carry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Save </a:t>
            </a:r>
            <a:r>
              <a:rPr sz="1400" spc="-10" dirty="0">
                <a:latin typeface="Arial MT"/>
                <a:cs typeface="Arial MT"/>
              </a:rPr>
              <a:t>Adder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18025" y="3983288"/>
            <a:ext cx="7162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Very</a:t>
            </a:r>
            <a:r>
              <a:rPr sz="1400" spc="-9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fast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18050" y="3983288"/>
            <a:ext cx="91503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Needs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final adder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2550" y="754805"/>
            <a:ext cx="1601470" cy="608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10" dirty="0">
                <a:latin typeface="Calibri"/>
                <a:cs typeface="Calibri"/>
              </a:rPr>
              <a:t>Existing</a:t>
            </a:r>
            <a:r>
              <a:rPr sz="1800" b="1" spc="130" dirty="0">
                <a:latin typeface="Calibri"/>
                <a:cs typeface="Calibri"/>
              </a:rPr>
              <a:t> </a:t>
            </a:r>
            <a:r>
              <a:rPr sz="1800" b="1" spc="55" dirty="0">
                <a:latin typeface="Calibri"/>
                <a:cs typeface="Calibri"/>
              </a:rPr>
              <a:t>Works</a:t>
            </a:r>
            <a:endParaRPr sz="1800">
              <a:latin typeface="Calibri"/>
              <a:cs typeface="Calibri"/>
            </a:endParaRPr>
          </a:p>
          <a:p>
            <a:pPr marL="540385">
              <a:lnSpc>
                <a:spcPct val="100000"/>
              </a:lnSpc>
              <a:spcBef>
                <a:spcPts val="1115"/>
              </a:spcBef>
            </a:pPr>
            <a:r>
              <a:rPr sz="1100" b="1" spc="-10" dirty="0">
                <a:latin typeface="Arial"/>
                <a:cs typeface="Arial"/>
              </a:rPr>
              <a:t>Technique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607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solidFill>
                  <a:srgbClr val="000000"/>
                </a:solidFill>
              </a:rPr>
              <a:t>0.3</a:t>
            </a:r>
            <a:r>
              <a:rPr sz="1800" spc="105" dirty="0">
                <a:solidFill>
                  <a:srgbClr val="000000"/>
                </a:solidFill>
              </a:rPr>
              <a:t> </a:t>
            </a:r>
            <a:r>
              <a:rPr sz="1800" spc="325" dirty="0">
                <a:solidFill>
                  <a:srgbClr val="000000"/>
                </a:solidFill>
              </a:rPr>
              <a:t>LITERATURE</a:t>
            </a:r>
            <a:r>
              <a:rPr sz="1800" spc="105" dirty="0">
                <a:solidFill>
                  <a:srgbClr val="000000"/>
                </a:solidFill>
              </a:rPr>
              <a:t> </a:t>
            </a:r>
            <a:r>
              <a:rPr sz="1800" spc="325" dirty="0">
                <a:solidFill>
                  <a:srgbClr val="000000"/>
                </a:solidFill>
              </a:rPr>
              <a:t>SURVEY</a:t>
            </a:r>
            <a:r>
              <a:rPr sz="1800" spc="105" dirty="0">
                <a:solidFill>
                  <a:srgbClr val="000000"/>
                </a:solidFill>
              </a:rPr>
              <a:t> </a:t>
            </a:r>
            <a:r>
              <a:rPr sz="1800" spc="275" dirty="0">
                <a:solidFill>
                  <a:srgbClr val="000000"/>
                </a:solidFill>
              </a:rPr>
              <a:t>AND</a:t>
            </a:r>
            <a:r>
              <a:rPr sz="1800" spc="105" dirty="0">
                <a:solidFill>
                  <a:srgbClr val="000000"/>
                </a:solidFill>
              </a:rPr>
              <a:t> </a:t>
            </a:r>
            <a:r>
              <a:rPr sz="1800" spc="260" dirty="0">
                <a:solidFill>
                  <a:srgbClr val="000000"/>
                </a:solidFill>
              </a:rPr>
              <a:t>BASIC</a:t>
            </a:r>
            <a:r>
              <a:rPr sz="1800" spc="105" dirty="0">
                <a:solidFill>
                  <a:srgbClr val="000000"/>
                </a:solidFill>
              </a:rPr>
              <a:t> </a:t>
            </a:r>
            <a:r>
              <a:rPr sz="1800" spc="285" dirty="0">
                <a:solidFill>
                  <a:srgbClr val="000000"/>
                </a:solidFill>
              </a:rPr>
              <a:t>PRINCIPLE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320175" y="821139"/>
            <a:ext cx="4725670" cy="408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Arial"/>
                <a:cs typeface="Arial"/>
              </a:rPr>
              <a:t>Basic</a:t>
            </a:r>
            <a:r>
              <a:rPr sz="1700" b="1" spc="-6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Principle</a:t>
            </a:r>
            <a:r>
              <a:rPr sz="1700" b="1" spc="-6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of</a:t>
            </a:r>
            <a:r>
              <a:rPr sz="1700" b="1" spc="-65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CSA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sz="1800" b="1" dirty="0">
                <a:latin typeface="Arial"/>
                <a:cs typeface="Arial"/>
              </a:rPr>
              <a:t>Working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Principle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-</a:t>
            </a:r>
            <a:r>
              <a:rPr sz="1800" b="1" spc="-5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469265" indent="-351155">
              <a:lnSpc>
                <a:spcPct val="100000"/>
              </a:lnSpc>
              <a:spcBef>
                <a:spcPts val="1730"/>
              </a:spcBef>
              <a:buChar char="●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Three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input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bits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added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bit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position.</a:t>
            </a:r>
            <a:endParaRPr sz="160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Sum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generated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using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XOR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logic.</a:t>
            </a:r>
            <a:endParaRPr sz="160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Carry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generated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using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majority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logic.</a:t>
            </a:r>
            <a:endParaRPr sz="160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85"/>
              </a:spcBef>
              <a:buChar char="●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No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carry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propagated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between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stages.</a:t>
            </a:r>
            <a:endParaRPr sz="1600">
              <a:latin typeface="Arial MT"/>
              <a:cs typeface="Arial MT"/>
            </a:endParaRPr>
          </a:p>
          <a:p>
            <a:pPr marL="153670">
              <a:lnSpc>
                <a:spcPct val="100000"/>
              </a:lnSpc>
              <a:spcBef>
                <a:spcPts val="1714"/>
              </a:spcBef>
            </a:pPr>
            <a:r>
              <a:rPr sz="1900" b="1" spc="-20" dirty="0">
                <a:latin typeface="Arial"/>
                <a:cs typeface="Arial"/>
              </a:rPr>
              <a:t>Mathematical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spc="-10" dirty="0">
                <a:latin typeface="Arial"/>
                <a:cs typeface="Arial"/>
              </a:rPr>
              <a:t>Analysis</a:t>
            </a:r>
            <a:endParaRPr sz="1900">
              <a:latin typeface="Arial"/>
              <a:cs typeface="Arial"/>
            </a:endParaRPr>
          </a:p>
          <a:p>
            <a:pPr marL="153670">
              <a:lnSpc>
                <a:spcPct val="100000"/>
              </a:lnSpc>
              <a:spcBef>
                <a:spcPts val="1550"/>
              </a:spcBef>
            </a:pP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each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bit:</a:t>
            </a:r>
            <a:endParaRPr sz="1700">
              <a:latin typeface="Arial MT"/>
              <a:cs typeface="Arial MT"/>
            </a:endParaRPr>
          </a:p>
          <a:p>
            <a:pPr marL="790575" lvl="1" indent="-538480">
              <a:lnSpc>
                <a:spcPct val="100000"/>
              </a:lnSpc>
              <a:spcBef>
                <a:spcPts val="1505"/>
              </a:spcBef>
              <a:buChar char="●"/>
              <a:tabLst>
                <a:tab pos="790575" algn="l"/>
              </a:tabLst>
            </a:pPr>
            <a:r>
              <a:rPr sz="1700" dirty="0">
                <a:latin typeface="Arial MT"/>
                <a:cs typeface="Arial MT"/>
              </a:rPr>
              <a:t>Sum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=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A</a:t>
            </a:r>
            <a:r>
              <a:rPr sz="1700" spc="-20" dirty="0">
                <a:latin typeface="MS PGothic"/>
                <a:cs typeface="MS PGothic"/>
              </a:rPr>
              <a:t>⊕</a:t>
            </a:r>
            <a:r>
              <a:rPr sz="1700" spc="-20" dirty="0">
                <a:latin typeface="Arial MT"/>
                <a:cs typeface="Arial MT"/>
              </a:rPr>
              <a:t>B</a:t>
            </a:r>
            <a:r>
              <a:rPr sz="1700" spc="-20" dirty="0">
                <a:latin typeface="MS PGothic"/>
                <a:cs typeface="MS PGothic"/>
              </a:rPr>
              <a:t>⊕</a:t>
            </a:r>
            <a:r>
              <a:rPr sz="1700" spc="-20" dirty="0">
                <a:latin typeface="Arial MT"/>
                <a:cs typeface="Arial MT"/>
              </a:rPr>
              <a:t>C</a:t>
            </a:r>
            <a:endParaRPr sz="1700">
              <a:latin typeface="Arial MT"/>
              <a:cs typeface="Arial MT"/>
            </a:endParaRPr>
          </a:p>
          <a:p>
            <a:pPr marL="153670" marR="5080" lvl="1" indent="636905">
              <a:lnSpc>
                <a:spcPct val="114999"/>
              </a:lnSpc>
              <a:buChar char="●"/>
              <a:tabLst>
                <a:tab pos="790575" algn="l"/>
              </a:tabLst>
            </a:pPr>
            <a:r>
              <a:rPr sz="1700" dirty="0">
                <a:latin typeface="Arial MT"/>
                <a:cs typeface="Arial MT"/>
              </a:rPr>
              <a:t>Carry=AB+BC+ACCarry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=</a:t>
            </a:r>
            <a:r>
              <a:rPr sz="1700" spc="-10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AB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+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BC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+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AC </a:t>
            </a:r>
            <a:r>
              <a:rPr sz="1700" dirty="0">
                <a:latin typeface="Arial MT"/>
                <a:cs typeface="Arial MT"/>
              </a:rPr>
              <a:t>Carries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shifted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left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added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later.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7175" y="3199575"/>
            <a:ext cx="937894" cy="777240"/>
          </a:xfrm>
          <a:custGeom>
            <a:avLst/>
            <a:gdLst/>
            <a:ahLst/>
            <a:cxnLst/>
            <a:rect l="l" t="t" r="r" b="b"/>
            <a:pathLst>
              <a:path w="937894" h="777239">
                <a:moveTo>
                  <a:pt x="0" y="0"/>
                </a:moveTo>
                <a:lnTo>
                  <a:pt x="937499" y="0"/>
                </a:lnTo>
                <a:lnTo>
                  <a:pt x="937499" y="776999"/>
                </a:lnTo>
                <a:lnTo>
                  <a:pt x="0" y="776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775" y="169440"/>
            <a:ext cx="499872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latin typeface="Arial"/>
                <a:cs typeface="Arial"/>
              </a:rPr>
              <a:t>0.4</a:t>
            </a:r>
            <a:r>
              <a:rPr sz="2300" b="1" spc="-50" dirty="0">
                <a:latin typeface="Arial"/>
                <a:cs typeface="Arial"/>
              </a:rPr>
              <a:t> </a:t>
            </a:r>
            <a:r>
              <a:rPr sz="2300" b="1" spc="-10" dirty="0">
                <a:latin typeface="Arial"/>
                <a:cs typeface="Arial"/>
              </a:rPr>
              <a:t>DESIGN</a:t>
            </a:r>
            <a:r>
              <a:rPr sz="2300" b="1" spc="-13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AND</a:t>
            </a:r>
            <a:r>
              <a:rPr sz="2300" b="1" spc="-45" dirty="0">
                <a:latin typeface="Arial"/>
                <a:cs typeface="Arial"/>
              </a:rPr>
              <a:t> </a:t>
            </a:r>
            <a:r>
              <a:rPr sz="2300" b="1" spc="-10" dirty="0">
                <a:latin typeface="Arial"/>
                <a:cs typeface="Arial"/>
              </a:rPr>
              <a:t>IMPLEMENTATION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3024" y="826932"/>
            <a:ext cx="4029075" cy="182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FFFFFF"/>
                </a:solidFill>
                <a:latin typeface="Arial"/>
                <a:cs typeface="Arial"/>
              </a:rPr>
              <a:t>Methodology</a:t>
            </a:r>
            <a:endParaRPr sz="2100">
              <a:latin typeface="Arial"/>
              <a:cs typeface="Arial"/>
            </a:endParaRPr>
          </a:p>
          <a:p>
            <a:pPr marL="469265" indent="-387350">
              <a:lnSpc>
                <a:spcPct val="100000"/>
              </a:lnSpc>
              <a:spcBef>
                <a:spcPts val="1600"/>
              </a:spcBef>
              <a:buAutoNum type="arabicPeriod"/>
              <a:tabLst>
                <a:tab pos="469265" algn="l"/>
              </a:tabLst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Analyze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limitations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conventional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adders</a:t>
            </a:r>
            <a:endParaRPr sz="1500">
              <a:latin typeface="Arial MT"/>
              <a:cs typeface="Arial MT"/>
            </a:endParaRPr>
          </a:p>
          <a:p>
            <a:pPr marL="469265" indent="-387350">
              <a:lnSpc>
                <a:spcPct val="100000"/>
              </a:lnSpc>
              <a:spcBef>
                <a:spcPts val="270"/>
              </a:spcBef>
              <a:buAutoNum type="arabicPeriod"/>
              <a:tabLst>
                <a:tab pos="469265" algn="l"/>
              </a:tabLst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Design</a:t>
            </a:r>
            <a:r>
              <a:rPr sz="15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Arial MT"/>
                <a:cs typeface="Arial MT"/>
              </a:rPr>
              <a:t>CSA</a:t>
            </a:r>
            <a:r>
              <a:rPr sz="15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architecture</a:t>
            </a:r>
            <a:endParaRPr sz="1500">
              <a:latin typeface="Arial MT"/>
              <a:cs typeface="Arial MT"/>
            </a:endParaRPr>
          </a:p>
          <a:p>
            <a:pPr marL="469265" indent="-387350">
              <a:lnSpc>
                <a:spcPct val="100000"/>
              </a:lnSpc>
              <a:spcBef>
                <a:spcPts val="270"/>
              </a:spcBef>
              <a:buAutoNum type="arabicPeriod"/>
              <a:tabLst>
                <a:tab pos="469265" algn="l"/>
              </a:tabLst>
            </a:pP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Implement</a:t>
            </a:r>
            <a:r>
              <a:rPr sz="15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Verilog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HDL</a:t>
            </a:r>
            <a:endParaRPr sz="1500">
              <a:latin typeface="Arial MT"/>
              <a:cs typeface="Arial MT"/>
            </a:endParaRPr>
          </a:p>
          <a:p>
            <a:pPr marL="469265" indent="-387350">
              <a:lnSpc>
                <a:spcPct val="100000"/>
              </a:lnSpc>
              <a:spcBef>
                <a:spcPts val="270"/>
              </a:spcBef>
              <a:buAutoNum type="arabicPeriod"/>
              <a:tabLst>
                <a:tab pos="469265" algn="l"/>
              </a:tabLst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Perform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functional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verification</a:t>
            </a:r>
            <a:endParaRPr sz="1500">
              <a:latin typeface="Arial MT"/>
              <a:cs typeface="Arial MT"/>
            </a:endParaRPr>
          </a:p>
          <a:p>
            <a:pPr marL="469265" indent="-387350">
              <a:lnSpc>
                <a:spcPct val="100000"/>
              </a:lnSpc>
              <a:spcBef>
                <a:spcPts val="270"/>
              </a:spcBef>
              <a:buAutoNum type="arabicPeriod"/>
              <a:tabLst>
                <a:tab pos="469265" algn="l"/>
              </a:tabLst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Analyze</a:t>
            </a:r>
            <a:r>
              <a:rPr sz="15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performance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275" y="2810924"/>
            <a:ext cx="328295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Architecture</a:t>
            </a:r>
            <a:r>
              <a:rPr sz="22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Description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6171" y="3315368"/>
            <a:ext cx="3255645" cy="8667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385"/>
              </a:spcBef>
              <a:buChar char="●"/>
              <a:tabLst>
                <a:tab pos="363855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Parallel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full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adder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structure</a:t>
            </a:r>
            <a:endParaRPr sz="1600">
              <a:latin typeface="Arial MT"/>
              <a:cs typeface="Arial MT"/>
            </a:endParaRPr>
          </a:p>
          <a:p>
            <a:pPr marL="36385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363855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Separate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sum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carry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vectors</a:t>
            </a:r>
            <a:endParaRPr sz="1600">
              <a:latin typeface="Arial MT"/>
              <a:cs typeface="Arial MT"/>
            </a:endParaRPr>
          </a:p>
          <a:p>
            <a:pPr marL="36385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363855" algn="l"/>
              </a:tabLst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Final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adder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result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generation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64799" y="2811432"/>
            <a:ext cx="12846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FFFFFF"/>
                </a:solidFill>
                <a:latin typeface="Arial"/>
                <a:cs typeface="Arial"/>
              </a:rPr>
              <a:t>Algorithm</a:t>
            </a:r>
            <a:endParaRPr sz="2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34525" y="3300636"/>
            <a:ext cx="3133090" cy="13398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400050" indent="-387350">
              <a:lnSpc>
                <a:spcPct val="100000"/>
              </a:lnSpc>
              <a:spcBef>
                <a:spcPts val="370"/>
              </a:spcBef>
              <a:buAutoNum type="arabicPeriod"/>
              <a:tabLst>
                <a:tab pos="400050" algn="l"/>
              </a:tabLst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Input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three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Arial MT"/>
                <a:cs typeface="Arial MT"/>
              </a:rPr>
              <a:t>N-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bit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operands</a:t>
            </a:r>
            <a:endParaRPr sz="1500">
              <a:latin typeface="Arial MT"/>
              <a:cs typeface="Arial MT"/>
            </a:endParaRPr>
          </a:p>
          <a:p>
            <a:pPr marL="400050" indent="-387350">
              <a:lnSpc>
                <a:spcPct val="100000"/>
              </a:lnSpc>
              <a:spcBef>
                <a:spcPts val="270"/>
              </a:spcBef>
              <a:buAutoNum type="arabicPeriod"/>
              <a:tabLst>
                <a:tab pos="400050" algn="l"/>
              </a:tabLst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Apply</a:t>
            </a:r>
            <a:r>
              <a:rPr sz="1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Arial MT"/>
                <a:cs typeface="Arial MT"/>
              </a:rPr>
              <a:t>CSA</a:t>
            </a:r>
            <a:r>
              <a:rPr sz="15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logic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Arial MT"/>
                <a:cs typeface="Arial MT"/>
              </a:rPr>
              <a:t>bit-wise</a:t>
            </a:r>
            <a:endParaRPr sz="1500">
              <a:latin typeface="Arial MT"/>
              <a:cs typeface="Arial MT"/>
            </a:endParaRPr>
          </a:p>
          <a:p>
            <a:pPr marL="400050" indent="-387350">
              <a:lnSpc>
                <a:spcPct val="100000"/>
              </a:lnSpc>
              <a:spcBef>
                <a:spcPts val="270"/>
              </a:spcBef>
              <a:buAutoNum type="arabicPeriod"/>
              <a:tabLst>
                <a:tab pos="400050" algn="l"/>
              </a:tabLst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Generate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sum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carry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vectors</a:t>
            </a:r>
            <a:endParaRPr sz="1500">
              <a:latin typeface="Arial MT"/>
              <a:cs typeface="Arial MT"/>
            </a:endParaRPr>
          </a:p>
          <a:p>
            <a:pPr marL="400050" indent="-387350">
              <a:lnSpc>
                <a:spcPct val="100000"/>
              </a:lnSpc>
              <a:spcBef>
                <a:spcPts val="270"/>
              </a:spcBef>
              <a:buAutoNum type="arabicPeriod"/>
              <a:tabLst>
                <a:tab pos="400050" algn="l"/>
              </a:tabLst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Shift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carry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left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 bit</a:t>
            </a:r>
            <a:endParaRPr sz="1500">
              <a:latin typeface="Arial MT"/>
              <a:cs typeface="Arial MT"/>
            </a:endParaRPr>
          </a:p>
          <a:p>
            <a:pPr marL="400050" indent="-387350">
              <a:lnSpc>
                <a:spcPct val="100000"/>
              </a:lnSpc>
              <a:spcBef>
                <a:spcPts val="270"/>
              </a:spcBef>
              <a:buAutoNum type="arabicPeriod"/>
              <a:tabLst>
                <a:tab pos="400050" algn="l"/>
              </a:tabLst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Add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final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Arial MT"/>
                <a:cs typeface="Arial MT"/>
              </a:rPr>
              <a:t>adder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37286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8400">
              <a:lnSpc>
                <a:spcPct val="100000"/>
              </a:lnSpc>
              <a:spcBef>
                <a:spcPts val="100"/>
              </a:spcBef>
            </a:pPr>
            <a:r>
              <a:rPr sz="2200" spc="65" dirty="0">
                <a:solidFill>
                  <a:srgbClr val="000000"/>
                </a:solidFill>
              </a:rPr>
              <a:t>Advantages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6182341" y="141282"/>
            <a:ext cx="145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50" dirty="0">
                <a:solidFill>
                  <a:srgbClr val="FFFAF0"/>
                </a:solidFill>
                <a:latin typeface="Calibri"/>
                <a:cs typeface="Calibri"/>
              </a:rPr>
              <a:t>Applications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424" y="697805"/>
            <a:ext cx="4030345" cy="3865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68580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60" dirty="0">
                <a:latin typeface="Calibri"/>
                <a:cs typeface="Calibri"/>
              </a:rPr>
              <a:t>Eliminates</a:t>
            </a:r>
            <a:r>
              <a:rPr sz="1800" spc="155" dirty="0">
                <a:latin typeface="Calibri"/>
                <a:cs typeface="Calibri"/>
              </a:rPr>
              <a:t> </a:t>
            </a:r>
            <a:r>
              <a:rPr sz="1800" spc="80" dirty="0">
                <a:latin typeface="Calibri"/>
                <a:cs typeface="Calibri"/>
              </a:rPr>
              <a:t>carry</a:t>
            </a:r>
            <a:r>
              <a:rPr sz="1800" spc="1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propagation</a:t>
            </a:r>
            <a:r>
              <a:rPr sz="1800" spc="1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during </a:t>
            </a:r>
            <a:r>
              <a:rPr sz="1800" dirty="0">
                <a:latin typeface="Calibri"/>
                <a:cs typeface="Calibri"/>
              </a:rPr>
              <a:t>intermediate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addition</a:t>
            </a:r>
            <a:r>
              <a:rPr sz="1800" spc="204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stages.</a:t>
            </a:r>
            <a:endParaRPr sz="1800">
              <a:latin typeface="Calibri"/>
              <a:cs typeface="Calibri"/>
            </a:endParaRPr>
          </a:p>
          <a:p>
            <a:pPr marL="379095" marR="832485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55" dirty="0">
                <a:latin typeface="Calibri"/>
                <a:cs typeface="Calibri"/>
              </a:rPr>
              <a:t>Provides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spc="50" dirty="0">
                <a:latin typeface="Calibri"/>
                <a:cs typeface="Calibri"/>
              </a:rPr>
              <a:t>very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spc="60" dirty="0">
                <a:latin typeface="Calibri"/>
                <a:cs typeface="Calibri"/>
              </a:rPr>
              <a:t>high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speed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for </a:t>
            </a:r>
            <a:r>
              <a:rPr sz="1800" dirty="0">
                <a:latin typeface="Calibri"/>
                <a:cs typeface="Calibri"/>
              </a:rPr>
              <a:t>multi-operand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addition.</a:t>
            </a:r>
            <a:endParaRPr sz="1800">
              <a:latin typeface="Calibri"/>
              <a:cs typeface="Calibri"/>
            </a:endParaRPr>
          </a:p>
          <a:p>
            <a:pPr marL="379095" marR="108585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50" dirty="0">
                <a:latin typeface="Calibri"/>
                <a:cs typeface="Calibri"/>
              </a:rPr>
              <a:t>Addition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delay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spc="70" dirty="0">
                <a:latin typeface="Calibri"/>
                <a:cs typeface="Calibri"/>
              </a:rPr>
              <a:t>is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independent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bits.</a:t>
            </a:r>
            <a:endParaRPr sz="1800">
              <a:latin typeface="Calibri"/>
              <a:cs typeface="Calibri"/>
            </a:endParaRPr>
          </a:p>
          <a:p>
            <a:pPr marL="379095" marR="5080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latin typeface="Calibri"/>
                <a:cs typeface="Calibri"/>
              </a:rPr>
              <a:t>Reduces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critical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path</a:t>
            </a:r>
            <a:r>
              <a:rPr sz="1800" spc="3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delay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compared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spc="50" dirty="0">
                <a:latin typeface="Calibri"/>
                <a:cs typeface="Calibri"/>
              </a:rPr>
              <a:t>Ripple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spc="120" dirty="0">
                <a:latin typeface="Calibri"/>
                <a:cs typeface="Calibri"/>
              </a:rPr>
              <a:t>Carry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spc="55" dirty="0">
                <a:latin typeface="Calibri"/>
                <a:cs typeface="Calibri"/>
              </a:rPr>
              <a:t>Adder.</a:t>
            </a:r>
            <a:endParaRPr sz="1800">
              <a:latin typeface="Calibri"/>
              <a:cs typeface="Calibri"/>
            </a:endParaRPr>
          </a:p>
          <a:p>
            <a:pPr marL="379095" marR="294005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55" dirty="0">
                <a:latin typeface="Calibri"/>
                <a:cs typeface="Calibri"/>
              </a:rPr>
              <a:t>Efficiently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handles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spc="50" dirty="0">
                <a:latin typeface="Calibri"/>
                <a:cs typeface="Calibri"/>
              </a:rPr>
              <a:t>large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bit-</a:t>
            </a:r>
            <a:r>
              <a:rPr sz="1800" spc="40" dirty="0">
                <a:latin typeface="Calibri"/>
                <a:cs typeface="Calibri"/>
              </a:rPr>
              <a:t>width </a:t>
            </a:r>
            <a:r>
              <a:rPr sz="1800" dirty="0">
                <a:latin typeface="Calibri"/>
                <a:cs typeface="Calibri"/>
              </a:rPr>
              <a:t>arithmetic</a:t>
            </a:r>
            <a:r>
              <a:rPr sz="1800" spc="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operations.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39474" y="697881"/>
            <a:ext cx="3996690" cy="359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346710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Implemented</a:t>
            </a:r>
            <a:r>
              <a:rPr sz="1800" spc="16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in</a:t>
            </a:r>
            <a:r>
              <a:rPr sz="1800" spc="16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60" dirty="0">
                <a:solidFill>
                  <a:srgbClr val="FFFAF0"/>
                </a:solidFill>
                <a:latin typeface="Calibri"/>
                <a:cs typeface="Calibri"/>
              </a:rPr>
              <a:t>Arithmetic</a:t>
            </a:r>
            <a:r>
              <a:rPr sz="1800" spc="16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95" dirty="0">
                <a:solidFill>
                  <a:srgbClr val="FFFAF0"/>
                </a:solidFill>
                <a:latin typeface="Calibri"/>
                <a:cs typeface="Calibri"/>
              </a:rPr>
              <a:t>Logic </a:t>
            </a:r>
            <a:r>
              <a:rPr sz="1800" spc="90" dirty="0">
                <a:solidFill>
                  <a:srgbClr val="FFFAF0"/>
                </a:solidFill>
                <a:latin typeface="Calibri"/>
                <a:cs typeface="Calibri"/>
              </a:rPr>
              <a:t>Units</a:t>
            </a:r>
            <a:r>
              <a:rPr sz="1800" spc="9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200" dirty="0">
                <a:solidFill>
                  <a:srgbClr val="FFFAF0"/>
                </a:solidFill>
                <a:latin typeface="Calibri"/>
                <a:cs typeface="Calibri"/>
              </a:rPr>
              <a:t>(ALUs)</a:t>
            </a:r>
            <a:r>
              <a:rPr sz="1800" spc="10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of</a:t>
            </a:r>
            <a:r>
              <a:rPr sz="1800" spc="9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AF0"/>
                </a:solidFill>
                <a:latin typeface="Calibri"/>
                <a:cs typeface="Calibri"/>
              </a:rPr>
              <a:t>processors.</a:t>
            </a:r>
            <a:endParaRPr sz="1800">
              <a:latin typeface="Calibri"/>
              <a:cs typeface="Calibri"/>
            </a:endParaRPr>
          </a:p>
          <a:p>
            <a:pPr marL="379095" marR="5080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FFFAF0"/>
                </a:solidFill>
                <a:latin typeface="Calibri"/>
                <a:cs typeface="Calibri"/>
              </a:rPr>
              <a:t>Used</a:t>
            </a:r>
            <a:r>
              <a:rPr sz="1800" spc="26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FFFAF0"/>
                </a:solidFill>
                <a:latin typeface="Calibri"/>
                <a:cs typeface="Calibri"/>
              </a:rPr>
              <a:t>in</a:t>
            </a:r>
            <a:r>
              <a:rPr sz="1800" spc="26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FFFAF0"/>
                </a:solidFill>
                <a:latin typeface="Calibri"/>
                <a:cs typeface="Calibri"/>
              </a:rPr>
              <a:t>multiply–accumulate</a:t>
            </a:r>
            <a:r>
              <a:rPr sz="1800" spc="26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120" dirty="0">
                <a:solidFill>
                  <a:srgbClr val="FFFAF0"/>
                </a:solidFill>
                <a:latin typeface="Calibri"/>
                <a:cs typeface="Calibri"/>
              </a:rPr>
              <a:t>(MAC) </a:t>
            </a:r>
            <a:r>
              <a:rPr sz="1800" spc="-10" dirty="0">
                <a:solidFill>
                  <a:srgbClr val="FFFAF0"/>
                </a:solidFill>
                <a:latin typeface="Calibri"/>
                <a:cs typeface="Calibri"/>
              </a:rPr>
              <a:t>units.</a:t>
            </a:r>
            <a:endParaRPr sz="1800">
              <a:latin typeface="Calibri"/>
              <a:cs typeface="Calibri"/>
            </a:endParaRPr>
          </a:p>
          <a:p>
            <a:pPr marL="379095" marR="154305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Applied</a:t>
            </a:r>
            <a:r>
              <a:rPr sz="1800" spc="33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in</a:t>
            </a:r>
            <a:r>
              <a:rPr sz="1800" spc="34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floating-point</a:t>
            </a:r>
            <a:r>
              <a:rPr sz="1800" spc="34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AF0"/>
                </a:solidFill>
                <a:latin typeface="Calibri"/>
                <a:cs typeface="Calibri"/>
              </a:rPr>
              <a:t>arithmetic units.</a:t>
            </a:r>
            <a:endParaRPr sz="1800">
              <a:latin typeface="Calibri"/>
              <a:cs typeface="Calibri"/>
            </a:endParaRPr>
          </a:p>
          <a:p>
            <a:pPr marL="379095" indent="-366395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Applied</a:t>
            </a:r>
            <a:r>
              <a:rPr sz="1800" spc="30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in</a:t>
            </a:r>
            <a:r>
              <a:rPr sz="1800" spc="30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accumulator</a:t>
            </a:r>
            <a:r>
              <a:rPr sz="1800" spc="30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40" dirty="0">
                <a:solidFill>
                  <a:srgbClr val="FFFAF0"/>
                </a:solidFill>
                <a:latin typeface="Calibri"/>
                <a:cs typeface="Calibri"/>
              </a:rPr>
              <a:t>circuits.</a:t>
            </a:r>
            <a:endParaRPr sz="1800">
              <a:latin typeface="Calibri"/>
              <a:cs typeface="Calibri"/>
            </a:endParaRPr>
          </a:p>
          <a:p>
            <a:pPr marL="379095" marR="68580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FFFAF0"/>
                </a:solidFill>
                <a:latin typeface="Calibri"/>
                <a:cs typeface="Calibri"/>
              </a:rPr>
              <a:t>Used</a:t>
            </a:r>
            <a:r>
              <a:rPr sz="1800" spc="19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in</a:t>
            </a:r>
            <a:r>
              <a:rPr sz="1800" spc="19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50" dirty="0">
                <a:solidFill>
                  <a:srgbClr val="FFFAF0"/>
                </a:solidFill>
                <a:latin typeface="Calibri"/>
                <a:cs typeface="Calibri"/>
              </a:rPr>
              <a:t>digital</a:t>
            </a:r>
            <a:r>
              <a:rPr sz="1800" spc="19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systems</a:t>
            </a:r>
            <a:r>
              <a:rPr sz="1800" spc="19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where</a:t>
            </a:r>
            <a:r>
              <a:rPr sz="1800" spc="19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55" dirty="0">
                <a:solidFill>
                  <a:srgbClr val="FFFAF0"/>
                </a:solidFill>
                <a:latin typeface="Calibri"/>
                <a:cs typeface="Calibri"/>
              </a:rPr>
              <a:t>carry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delay</a:t>
            </a:r>
            <a:r>
              <a:rPr sz="1800" spc="13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must</a:t>
            </a:r>
            <a:r>
              <a:rPr sz="1800" spc="13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be</a:t>
            </a:r>
            <a:r>
              <a:rPr sz="1800" spc="13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AF0"/>
                </a:solidFill>
                <a:latin typeface="Calibri"/>
                <a:cs typeface="Calibri"/>
              </a:rPr>
              <a:t>minimized.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52174" y="4298395"/>
            <a:ext cx="138430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</a:pPr>
            <a:r>
              <a:rPr sz="1800" spc="-770" dirty="0">
                <a:solidFill>
                  <a:srgbClr val="FFFAF0"/>
                </a:solidFill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943862" y="4230912"/>
            <a:ext cx="873125" cy="565150"/>
            <a:chOff x="4943862" y="4230912"/>
            <a:chExt cx="873125" cy="565150"/>
          </a:xfrm>
        </p:grpSpPr>
        <p:sp>
          <p:nvSpPr>
            <p:cNvPr id="8" name="object 8"/>
            <p:cNvSpPr/>
            <p:nvPr/>
          </p:nvSpPr>
          <p:spPr>
            <a:xfrm>
              <a:off x="4948625" y="4235674"/>
              <a:ext cx="863600" cy="555625"/>
            </a:xfrm>
            <a:custGeom>
              <a:avLst/>
              <a:gdLst/>
              <a:ahLst/>
              <a:cxnLst/>
              <a:rect l="l" t="t" r="r" b="b"/>
              <a:pathLst>
                <a:path w="863600" h="555625">
                  <a:moveTo>
                    <a:pt x="863399" y="554999"/>
                  </a:moveTo>
                  <a:lnTo>
                    <a:pt x="0" y="554999"/>
                  </a:lnTo>
                  <a:lnTo>
                    <a:pt x="0" y="0"/>
                  </a:lnTo>
                  <a:lnTo>
                    <a:pt x="863399" y="0"/>
                  </a:lnTo>
                  <a:lnTo>
                    <a:pt x="863399" y="5549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48625" y="4235674"/>
              <a:ext cx="863600" cy="555625"/>
            </a:xfrm>
            <a:custGeom>
              <a:avLst/>
              <a:gdLst/>
              <a:ahLst/>
              <a:cxnLst/>
              <a:rect l="l" t="t" r="r" b="b"/>
              <a:pathLst>
                <a:path w="863600" h="555625">
                  <a:moveTo>
                    <a:pt x="0" y="0"/>
                  </a:moveTo>
                  <a:lnTo>
                    <a:pt x="863399" y="0"/>
                  </a:lnTo>
                  <a:lnTo>
                    <a:pt x="863399" y="554999"/>
                  </a:lnTo>
                  <a:lnTo>
                    <a:pt x="0" y="554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1934" y="3597500"/>
            <a:ext cx="390525" cy="0"/>
          </a:xfrm>
          <a:custGeom>
            <a:avLst/>
            <a:gdLst/>
            <a:ahLst/>
            <a:cxnLst/>
            <a:rect l="l" t="t" r="r" b="b"/>
            <a:pathLst>
              <a:path w="390525">
                <a:moveTo>
                  <a:pt x="0" y="0"/>
                </a:moveTo>
                <a:lnTo>
                  <a:pt x="390299" y="0"/>
                </a:lnTo>
              </a:path>
            </a:pathLst>
          </a:custGeom>
          <a:ln w="28574">
            <a:solidFill>
              <a:srgbClr val="26A6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126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3025" y="993423"/>
            <a:ext cx="8462010" cy="3743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636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9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19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project,</a:t>
            </a:r>
            <a:r>
              <a:rPr sz="19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9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b="1" spc="-10" dirty="0">
                <a:solidFill>
                  <a:srgbClr val="FFFFFF"/>
                </a:solidFill>
                <a:latin typeface="Arial"/>
                <a:cs typeface="Arial"/>
              </a:rPr>
              <a:t>16-</a:t>
            </a:r>
            <a:r>
              <a:rPr sz="1900" b="1" dirty="0">
                <a:solidFill>
                  <a:srgbClr val="FFFFFF"/>
                </a:solidFill>
                <a:latin typeface="Arial"/>
                <a:cs typeface="Arial"/>
              </a:rPr>
              <a:t>bit</a:t>
            </a:r>
            <a:r>
              <a:rPr sz="19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FFFFFF"/>
                </a:solidFill>
                <a:latin typeface="Arial"/>
                <a:cs typeface="Arial"/>
              </a:rPr>
              <a:t>Carry</a:t>
            </a:r>
            <a:r>
              <a:rPr sz="19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FFFFFF"/>
                </a:solidFill>
                <a:latin typeface="Arial"/>
                <a:cs typeface="Arial"/>
              </a:rPr>
              <a:t>Save</a:t>
            </a:r>
            <a:r>
              <a:rPr sz="19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FFFFFF"/>
                </a:solidFill>
                <a:latin typeface="Arial"/>
                <a:cs typeface="Arial"/>
              </a:rPr>
              <a:t>Adder</a:t>
            </a:r>
            <a:r>
              <a:rPr sz="19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was</a:t>
            </a:r>
            <a:r>
              <a:rPr sz="19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designed</a:t>
            </a:r>
            <a:r>
              <a:rPr sz="19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9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Arial MT"/>
                <a:cs typeface="Arial MT"/>
              </a:rPr>
              <a:t>implemented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9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b="1" spc="-10" dirty="0">
                <a:solidFill>
                  <a:srgbClr val="FFFFFF"/>
                </a:solidFill>
                <a:latin typeface="Arial"/>
                <a:cs typeface="Arial"/>
              </a:rPr>
              <a:t>Verilog</a:t>
            </a:r>
            <a:r>
              <a:rPr sz="19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FFFFFF"/>
                </a:solidFill>
                <a:latin typeface="Arial"/>
                <a:cs typeface="Arial"/>
              </a:rPr>
              <a:t>HDL</a:t>
            </a:r>
            <a:r>
              <a:rPr sz="19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efficiently</a:t>
            </a:r>
            <a:r>
              <a:rPr sz="19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add</a:t>
            </a:r>
            <a:r>
              <a:rPr sz="19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multiple</a:t>
            </a:r>
            <a:r>
              <a:rPr sz="19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binary</a:t>
            </a:r>
            <a:r>
              <a:rPr sz="19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Arial MT"/>
                <a:cs typeface="Arial MT"/>
              </a:rPr>
              <a:t>operands.</a:t>
            </a:r>
            <a:r>
              <a:rPr sz="19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9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Arial MT"/>
                <a:cs typeface="Arial MT"/>
              </a:rPr>
              <a:t>CSA </a:t>
            </a:r>
            <a:r>
              <a:rPr sz="1900" spc="-10" dirty="0">
                <a:solidFill>
                  <a:srgbClr val="FFFFFF"/>
                </a:solidFill>
                <a:latin typeface="Arial MT"/>
                <a:cs typeface="Arial MT"/>
              </a:rPr>
              <a:t>architecture</a:t>
            </a:r>
            <a:r>
              <a:rPr sz="19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eliminates</a:t>
            </a:r>
            <a:r>
              <a:rPr sz="19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carry</a:t>
            </a:r>
            <a:r>
              <a:rPr sz="19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Arial MT"/>
                <a:cs typeface="Arial MT"/>
              </a:rPr>
              <a:t>propagation</a:t>
            </a:r>
            <a:r>
              <a:rPr sz="19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during</a:t>
            </a:r>
            <a:r>
              <a:rPr sz="19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Arial MT"/>
                <a:cs typeface="Arial MT"/>
              </a:rPr>
              <a:t>intermediate</a:t>
            </a:r>
            <a:r>
              <a:rPr sz="19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addition</a:t>
            </a:r>
            <a:r>
              <a:rPr sz="19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Arial MT"/>
                <a:cs typeface="Arial MT"/>
              </a:rPr>
              <a:t>stages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19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Arial MT"/>
                <a:cs typeface="Arial MT"/>
              </a:rPr>
              <a:t>generating</a:t>
            </a:r>
            <a:r>
              <a:rPr sz="19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separate</a:t>
            </a:r>
            <a:r>
              <a:rPr sz="19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b="1" dirty="0">
                <a:solidFill>
                  <a:srgbClr val="FFFFFF"/>
                </a:solidFill>
                <a:latin typeface="Arial"/>
                <a:cs typeface="Arial"/>
              </a:rPr>
              <a:t>sum</a:t>
            </a:r>
            <a:r>
              <a:rPr sz="19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9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FFFFFF"/>
                </a:solidFill>
                <a:latin typeface="Arial"/>
                <a:cs typeface="Arial"/>
              </a:rPr>
              <a:t>carry</a:t>
            </a:r>
            <a:r>
              <a:rPr sz="19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FFFFFF"/>
                </a:solidFill>
                <a:latin typeface="Arial"/>
                <a:cs typeface="Arial"/>
              </a:rPr>
              <a:t>vectors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9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thereby</a:t>
            </a:r>
            <a:r>
              <a:rPr sz="19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significantly</a:t>
            </a:r>
            <a:r>
              <a:rPr sz="19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Arial MT"/>
                <a:cs typeface="Arial MT"/>
              </a:rPr>
              <a:t>reducing computational</a:t>
            </a:r>
            <a:r>
              <a:rPr sz="19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Arial MT"/>
                <a:cs typeface="Arial MT"/>
              </a:rPr>
              <a:t>delay.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References</a:t>
            </a:r>
            <a:r>
              <a:rPr sz="19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900" spc="-50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endParaRPr sz="1900">
              <a:latin typeface="Arial MT"/>
              <a:cs typeface="Arial MT"/>
            </a:endParaRPr>
          </a:p>
          <a:p>
            <a:pPr marL="12700" marR="5080">
              <a:lnSpc>
                <a:spcPts val="2210"/>
              </a:lnSpc>
              <a:spcBef>
                <a:spcPts val="2125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M.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Morris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Mano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Michael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D.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Ciletti,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i="1" dirty="0">
                <a:solidFill>
                  <a:srgbClr val="FFFFFF"/>
                </a:solidFill>
                <a:latin typeface="Arial"/>
                <a:cs typeface="Arial"/>
              </a:rPr>
              <a:t>Digital</a:t>
            </a:r>
            <a:r>
              <a:rPr sz="16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FFFFFF"/>
                </a:solidFill>
                <a:latin typeface="Arial"/>
                <a:cs typeface="Arial"/>
              </a:rPr>
              <a:t>Design:</a:t>
            </a:r>
            <a:r>
              <a:rPr sz="16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6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16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i="1" spc="-10" dirty="0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r>
              <a:rPr sz="16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6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6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i="1" dirty="0">
                <a:solidFill>
                  <a:srgbClr val="FFFFFF"/>
                </a:solidFill>
                <a:latin typeface="Arial"/>
                <a:cs typeface="Arial"/>
              </a:rPr>
              <a:t>Verilog</a:t>
            </a:r>
            <a:r>
              <a:rPr sz="16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Arial"/>
                <a:cs typeface="Arial"/>
              </a:rPr>
              <a:t>HDL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,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5th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Edition,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Pearson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Education,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2013.</a:t>
            </a:r>
            <a:r>
              <a:rPr sz="160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9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Arial MT"/>
                <a:cs typeface="Arial MT"/>
              </a:rPr>
              <a:t>Google.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600">
              <a:latin typeface="Arial MT"/>
              <a:cs typeface="Arial MT"/>
            </a:endParaRPr>
          </a:p>
          <a:p>
            <a:pPr marL="12700" marR="97155">
              <a:lnSpc>
                <a:spcPct val="100000"/>
              </a:lnSpc>
            </a:pPr>
            <a:r>
              <a:rPr sz="1900" spc="-25" dirty="0">
                <a:solidFill>
                  <a:srgbClr val="FFFFFF"/>
                </a:solidFill>
                <a:latin typeface="Arial MT"/>
                <a:cs typeface="Arial MT"/>
                <a:hlinkClick r:id="rId2"/>
              </a:rPr>
              <a:t>www.internationaljournalssrg.org/uploads/specialissuepdf/ICT-</a:t>
            </a:r>
            <a:r>
              <a:rPr sz="1900" spc="-10" dirty="0">
                <a:solidFill>
                  <a:srgbClr val="FFFFFF"/>
                </a:solidFill>
                <a:latin typeface="Arial MT"/>
                <a:cs typeface="Arial MT"/>
                <a:hlinkClick r:id="rId2"/>
              </a:rPr>
              <a:t>2020/2020/OTH</a:t>
            </a:r>
            <a:r>
              <a:rPr sz="1900" spc="-10" dirty="0">
                <a:solidFill>
                  <a:srgbClr val="FFFFFF"/>
                </a:solidFill>
                <a:latin typeface="Arial MT"/>
                <a:cs typeface="Arial MT"/>
              </a:rPr>
              <a:t> ERS/P109.pdf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565</Words>
  <Application>Microsoft Office PowerPoint</Application>
  <PresentationFormat>On-screen Show (16:9)</PresentationFormat>
  <Paragraphs>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MS PGothic</vt:lpstr>
      <vt:lpstr>Aptos</vt:lpstr>
      <vt:lpstr>Arial</vt:lpstr>
      <vt:lpstr>Arial MT</vt:lpstr>
      <vt:lpstr>Calibri</vt:lpstr>
      <vt:lpstr>Office Theme</vt:lpstr>
      <vt:lpstr>PowerPoint Presentation</vt:lpstr>
      <vt:lpstr>0.1 Abstract</vt:lpstr>
      <vt:lpstr>Half Adder -:</vt:lpstr>
      <vt:lpstr>0.2 Introduction -:</vt:lpstr>
      <vt:lpstr>0.3 LITERATURE SURVEY AND BASIC PRINCIPLE</vt:lpstr>
      <vt:lpstr>0.4 DESIGN AND IMPLEMENTATION</vt:lpstr>
      <vt:lpstr>PowerPoint Presentation</vt:lpstr>
      <vt:lpstr>Advantages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project</dc:title>
  <cp:lastModifiedBy>Anuj Gupta</cp:lastModifiedBy>
  <cp:revision>1</cp:revision>
  <dcterms:created xsi:type="dcterms:W3CDTF">2026-02-16T05:41:00Z</dcterms:created>
  <dcterms:modified xsi:type="dcterms:W3CDTF">2026-02-16T05:54:18Z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2026-02-16T00:00:00Z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2026-02-16T00:00:00Z</vt:filetime>
  </property>
</Properties>
</file>